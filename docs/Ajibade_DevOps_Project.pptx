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59" r:id="rId6"/>
    <p:sldId id="260" r:id="rId7"/>
    <p:sldId id="261" r:id="rId8"/>
    <p:sldId id="269" r:id="rId9"/>
    <p:sldId id="262" r:id="rId10"/>
    <p:sldId id="263" r:id="rId11"/>
    <p:sldId id="264" r:id="rId12"/>
    <p:sldId id="265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300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29-Jan-26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974400"/>
          </a:xfrm>
        </p:spPr>
        <p:txBody>
          <a:bodyPr>
            <a:noAutofit/>
          </a:bodyPr>
          <a:lstStyle/>
          <a:p>
            <a:r>
              <a:rPr b="1" dirty="0"/>
              <a:t>End-to-End </a:t>
            </a:r>
            <a:r>
              <a:rPr b="1" dirty="0" err="1"/>
              <a:t>DevOps</a:t>
            </a:r>
            <a:r>
              <a:rPr b="1" dirty="0"/>
              <a:t> Pipeline on Azure using </a:t>
            </a:r>
            <a:r>
              <a:rPr b="1" dirty="0" err="1"/>
              <a:t>GitOps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073940"/>
            <a:ext cx="8229600" cy="305222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i="1" dirty="0" err="1" smtClean="0">
                <a:solidFill>
                  <a:schemeClr val="accent3">
                    <a:lumMod val="75000"/>
                  </a:schemeClr>
                </a:solidFill>
              </a:rPr>
              <a:t>Terraform</a:t>
            </a:r>
            <a:r>
              <a:rPr i="1" dirty="0" smtClean="0">
                <a:solidFill>
                  <a:schemeClr val="accent3">
                    <a:lumMod val="75000"/>
                  </a:schemeClr>
                </a:solidFill>
              </a:rPr>
              <a:t> • </a:t>
            </a:r>
            <a:r>
              <a:rPr i="1" dirty="0" err="1" smtClean="0">
                <a:solidFill>
                  <a:schemeClr val="accent3">
                    <a:lumMod val="75000"/>
                  </a:schemeClr>
                </a:solidFill>
              </a:rPr>
              <a:t>GitHub</a:t>
            </a:r>
            <a:r>
              <a:rPr i="1" dirty="0" smtClean="0">
                <a:solidFill>
                  <a:schemeClr val="accent3">
                    <a:lumMod val="75000"/>
                  </a:schemeClr>
                </a:solidFill>
              </a:rPr>
              <a:t> Actions • AKS • Argo CD • Prometheus • </a:t>
            </a:r>
            <a:r>
              <a:rPr i="1" dirty="0" err="1" smtClean="0">
                <a:solidFill>
                  <a:schemeClr val="accent3">
                    <a:lumMod val="75000"/>
                  </a:schemeClr>
                </a:solidFill>
              </a:rPr>
              <a:t>Grafana</a:t>
            </a: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dirty="0" smtClean="0"/>
              <a:t>by:</a:t>
            </a:r>
            <a:endParaRPr lang="en-US" dirty="0" smtClean="0"/>
          </a:p>
          <a:p>
            <a:pPr marL="0" indent="0" algn="ctr">
              <a:buNone/>
            </a:pPr>
            <a:r>
              <a:rPr lang="en-US" sz="4800" b="1" dirty="0" smtClean="0"/>
              <a:t>AJIBADE APATA</a:t>
            </a:r>
            <a:endParaRPr lang="en-US" sz="48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289" y="252919"/>
            <a:ext cx="8268511" cy="1164719"/>
          </a:xfrm>
        </p:spPr>
        <p:txBody>
          <a:bodyPr>
            <a:normAutofit/>
          </a:bodyPr>
          <a:lstStyle/>
          <a:p>
            <a:r>
              <a:rPr lang="en-US" sz="3200" b="1" dirty="0" smtClean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Objective</a:t>
            </a:r>
            <a:endParaRPr lang="en-US" sz="3200" b="1" dirty="0">
              <a:solidFill>
                <a:schemeClr val="tx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Build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deploy a .NET application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practices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 provisioning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CI/CD with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GitOps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and </a:t>
            </a:r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observability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follows a real world cloud-native workflow and production-ready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architecture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</a:rPr>
              <a:t>High-Level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code commit to production deployment with full automation.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81975" y="3052203"/>
            <a:ext cx="2081719" cy="622570"/>
          </a:xfrm>
          <a:prstGeom prst="rect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Developer </a:t>
            </a:r>
          </a:p>
          <a:p>
            <a:pPr algn="ctr"/>
            <a:r>
              <a:rPr lang="en-US" dirty="0" smtClean="0"/>
              <a:t>(</a:t>
            </a:r>
            <a:r>
              <a:rPr lang="en-US" dirty="0" err="1" smtClean="0"/>
              <a:t>Git</a:t>
            </a:r>
            <a:r>
              <a:rPr lang="en-US" dirty="0" smtClean="0"/>
              <a:t> Push)</a:t>
            </a:r>
            <a:endParaRPr lang="en-US" dirty="0"/>
          </a:p>
        </p:txBody>
      </p:sp>
      <p:cxnSp>
        <p:nvCxnSpPr>
          <p:cNvPr id="7" name="Straight Arrow Connector 6"/>
          <p:cNvCxnSpPr>
            <a:stCxn id="5" idx="3"/>
          </p:cNvCxnSpPr>
          <p:nvPr/>
        </p:nvCxnSpPr>
        <p:spPr>
          <a:xfrm flipV="1">
            <a:off x="2963694" y="3360240"/>
            <a:ext cx="466928" cy="32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453319" y="3052203"/>
            <a:ext cx="2081719" cy="622570"/>
          </a:xfrm>
          <a:prstGeom prst="rect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GitHub</a:t>
            </a:r>
            <a:r>
              <a:rPr lang="en-US" dirty="0" smtClean="0"/>
              <a:t> Repo</a:t>
            </a:r>
          </a:p>
        </p:txBody>
      </p:sp>
      <p:sp>
        <p:nvSpPr>
          <p:cNvPr id="8" name="Rectangle 7"/>
          <p:cNvSpPr/>
          <p:nvPr/>
        </p:nvSpPr>
        <p:spPr>
          <a:xfrm>
            <a:off x="6011692" y="3052203"/>
            <a:ext cx="2081719" cy="622570"/>
          </a:xfrm>
          <a:prstGeom prst="rect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GitHub</a:t>
            </a:r>
            <a:r>
              <a:rPr lang="en-US" dirty="0" smtClean="0"/>
              <a:t> Actions </a:t>
            </a:r>
          </a:p>
          <a:p>
            <a:pPr algn="ctr"/>
            <a:r>
              <a:rPr lang="en-US" dirty="0" smtClean="0"/>
              <a:t>(CI)</a:t>
            </a:r>
          </a:p>
        </p:txBody>
      </p:sp>
      <p:sp>
        <p:nvSpPr>
          <p:cNvPr id="9" name="Rectangle 8"/>
          <p:cNvSpPr/>
          <p:nvPr/>
        </p:nvSpPr>
        <p:spPr>
          <a:xfrm>
            <a:off x="881975" y="4420573"/>
            <a:ext cx="2081719" cy="622570"/>
          </a:xfrm>
          <a:prstGeom prst="rect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Azure Container Registry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3319" y="4421705"/>
            <a:ext cx="2081719" cy="622570"/>
          </a:xfrm>
          <a:prstGeom prst="rect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AKS</a:t>
            </a:r>
          </a:p>
          <a:p>
            <a:pPr algn="ctr"/>
            <a:r>
              <a:rPr lang="en-US" dirty="0" smtClean="0"/>
              <a:t>(Argo CD + App)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11692" y="4424953"/>
            <a:ext cx="2081719" cy="622570"/>
          </a:xfrm>
          <a:prstGeom prst="rect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Prometheus + </a:t>
            </a:r>
            <a:r>
              <a:rPr lang="en-US" dirty="0" err="1" smtClean="0"/>
              <a:t>Grafana</a:t>
            </a:r>
            <a:endParaRPr lang="en-US" dirty="0" smtClean="0"/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5535038" y="3365752"/>
            <a:ext cx="466928" cy="32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2968559" y="4737862"/>
            <a:ext cx="466928" cy="32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5535038" y="4728610"/>
            <a:ext cx="466928" cy="32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2919"/>
            <a:ext cx="8229600" cy="116471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ARCHITECTURE DIAGRAM (END-TO-END)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625334" y="1417638"/>
            <a:ext cx="2348564" cy="7892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Developer</a:t>
            </a:r>
          </a:p>
          <a:p>
            <a:pPr algn="ctr"/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Git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Push to </a:t>
            </a: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GitHub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199" y="2515936"/>
            <a:ext cx="2684834" cy="15981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GitHub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.NET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Source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Dockerfile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Kubernetes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 Manifests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Terraform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IaC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4413465"/>
            <a:ext cx="2684836" cy="15981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accent3">
                    <a:lumMod val="75000"/>
                  </a:schemeClr>
                </a:solidFill>
              </a:rPr>
              <a:t>GitHub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Actions (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CI)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Build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.NET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Build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Docker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Push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Image to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ACR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390963" y="1417638"/>
            <a:ext cx="3455470" cy="9718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Azure Container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Registry</a:t>
            </a:r>
          </a:p>
          <a:p>
            <a:pPr algn="ctr"/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(ACR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)    </a:t>
            </a:r>
            <a:endParaRPr lang="en-US" dirty="0" smtClean="0">
              <a:solidFill>
                <a:schemeClr val="accent3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Stores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Docker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Images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1385" y="2631362"/>
            <a:ext cx="5313145" cy="4427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Azure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Kubernetes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Service (AKS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08923" y="3074124"/>
            <a:ext cx="3058068" cy="13323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Argo CD (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GitOps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CD)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Watches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GitHub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Manifests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Syncs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Desired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Self-healing 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08924" y="4406505"/>
            <a:ext cx="3058068" cy="10445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accent3">
                    <a:lumMod val="75000"/>
                  </a:schemeClr>
                </a:solidFill>
              </a:rPr>
              <a:t>AjibadeApi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(.NET App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Pods)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Image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pulled from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ACR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Health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+ Metrics endpoints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8924" y="5451077"/>
            <a:ext cx="3058067" cy="11465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Prometheus  →  </a:t>
            </a:r>
            <a:r>
              <a:rPr lang="en-US" dirty="0" err="1" smtClean="0">
                <a:solidFill>
                  <a:schemeClr val="accent3">
                    <a:lumMod val="75000"/>
                  </a:schemeClr>
                </a:solidFill>
              </a:rPr>
              <a:t>Grafana</a:t>
            </a: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Metrics Collection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Dashboards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&amp; Monitoring 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634247" y="2226366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/>
          <p:cNvSpPr/>
          <p:nvPr/>
        </p:nvSpPr>
        <p:spPr>
          <a:xfrm>
            <a:off x="1634247" y="4132309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/>
          <p:cNvSpPr/>
          <p:nvPr/>
        </p:nvSpPr>
        <p:spPr>
          <a:xfrm>
            <a:off x="5749047" y="2404539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own Arrow 16"/>
          <p:cNvSpPr/>
          <p:nvPr/>
        </p:nvSpPr>
        <p:spPr>
          <a:xfrm>
            <a:off x="1631005" y="6031033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80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018" y="262648"/>
            <a:ext cx="8258782" cy="1154990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</a:rPr>
              <a:t>Application Layer (.NET API)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ASP.NET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Web API</a:t>
            </a:r>
          </a:p>
          <a:p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Dockerized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</a:p>
          <a:p>
            <a:r>
              <a:rPr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endpoints for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ubernetes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probes</a:t>
            </a:r>
          </a:p>
          <a:p>
            <a:r>
              <a:rPr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endpoints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rometheus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562" y="291830"/>
            <a:ext cx="8278238" cy="1125808"/>
          </a:xfrm>
        </p:spPr>
        <p:txBody>
          <a:bodyPr>
            <a:normAutofit/>
          </a:bodyPr>
          <a:lstStyle/>
          <a:p>
            <a:r>
              <a:rPr sz="36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Infrastructure as Code (</a:t>
            </a:r>
            <a:r>
              <a:rPr sz="3600"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Terraform</a:t>
            </a:r>
            <a:r>
              <a:rPr sz="36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Group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Provision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Kubernetes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Service (AKS)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Container Registry (ACR)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Assigns permission for AKS to pull images from ACR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has a repeatable infrastructure, version-controlled with no manual cloud setup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CI: </a:t>
            </a:r>
            <a:r>
              <a:rPr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Triggered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push to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Build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.NET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lication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Build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image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Push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to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Container Registry (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Every code change produces a new container image automatically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654" y="282102"/>
            <a:ext cx="8210145" cy="1135536"/>
          </a:xfrm>
        </p:spPr>
        <p:txBody>
          <a:bodyPr>
            <a:normAutofit/>
          </a:bodyPr>
          <a:lstStyle/>
          <a:p>
            <a:r>
              <a:rPr lang="en-US" sz="3600" b="1" dirty="0" smtClean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Azure Container </a:t>
            </a:r>
            <a:r>
              <a:rPr lang="en-US" sz="36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Registry (ACR)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Stores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images securely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Acts as the source of AKS deployments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8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017" y="301556"/>
            <a:ext cx="8258783" cy="1116081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CD: </a:t>
            </a:r>
            <a:r>
              <a:rPr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GitOps</a:t>
            </a:r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with Argo 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0" indent="0" algn="just">
              <a:buNone/>
            </a:pPr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single source of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truth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It’s declarative, versioned &amp; immutable, pulled automatically and continuously reconciled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Watches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Repository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 to AKS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Self-healing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382" y="243191"/>
            <a:ext cx="8200417" cy="1174447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Automatic Image Updates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Manual image tag updates are error prone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Argo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CD Image Updater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Detects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images in ACR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Updates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manifests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Triggers redeployment without manual action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Prometheus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Scrapes application &amp; cluster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Collects CPU, Memory metrics</a:t>
            </a:r>
          </a:p>
          <a:p>
            <a:pPr marL="0" indent="0">
              <a:buNone/>
            </a:pPr>
            <a:r>
              <a:rPr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Grafana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isualiz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 metrics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for</a:t>
            </a:r>
          </a:p>
          <a:p>
            <a:pPr lvl="1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performance</a:t>
            </a:r>
          </a:p>
          <a:p>
            <a:pPr lvl="1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Pod &amp; node resource usage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928" y="223736"/>
            <a:ext cx="8219872" cy="1193902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Outcome: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Fully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pipeline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Production-ready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Observable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scalable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4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Key takeaway:</a:t>
            </a:r>
          </a:p>
          <a:p>
            <a:pPr marL="0" indent="0" algn="just">
              <a:buNone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“Modern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focuses on automation, reliability, and visibility”</a:t>
            </a:r>
          </a:p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53630"/>
            <a:ext cx="8229600" cy="2050276"/>
          </a:xfrm>
        </p:spPr>
        <p:txBody>
          <a:bodyPr>
            <a:noAutofit/>
          </a:bodyPr>
          <a:lstStyle/>
          <a:p>
            <a:r>
              <a:rPr lang="en-US" sz="8800" b="1" dirty="0" smtClean="0">
                <a:solidFill>
                  <a:srgbClr val="FF0000"/>
                </a:solidFill>
                <a:latin typeface="Bradley Hand ITC" panose="03070402050302030203" pitchFamily="66" charset="0"/>
              </a:rPr>
              <a:t>THANKS</a:t>
            </a:r>
            <a:r>
              <a:rPr lang="en-US" sz="8800" b="1" dirty="0" smtClean="0">
                <a:latin typeface="Bradley Hand ITC" panose="03070402050302030203" pitchFamily="66" charset="0"/>
              </a:rPr>
              <a:t> </a:t>
            </a:r>
            <a:r>
              <a:rPr lang="en-US" sz="8800" b="1" dirty="0" smtClean="0">
                <a:solidFill>
                  <a:schemeClr val="accent2">
                    <a:lumMod val="75000"/>
                  </a:schemeClr>
                </a:solidFill>
                <a:latin typeface="Bradley Hand ITC" panose="03070402050302030203" pitchFamily="66" charset="0"/>
              </a:rPr>
              <a:t>FOR</a:t>
            </a:r>
            <a:r>
              <a:rPr lang="en-US" sz="8800" b="1" dirty="0" smtClean="0">
                <a:latin typeface="Bradley Hand ITC" panose="03070402050302030203" pitchFamily="66" charset="0"/>
              </a:rPr>
              <a:t> </a:t>
            </a:r>
            <a:r>
              <a:rPr lang="en-US" sz="8800" b="1" dirty="0" smtClean="0">
                <a:solidFill>
                  <a:srgbClr val="92D050"/>
                </a:solidFill>
                <a:latin typeface="Bradley Hand ITC" panose="03070402050302030203" pitchFamily="66" charset="0"/>
              </a:rPr>
              <a:t>LISTENING</a:t>
            </a:r>
            <a:endParaRPr lang="en-US" sz="8800" b="1" dirty="0">
              <a:solidFill>
                <a:srgbClr val="92D050"/>
              </a:solidFill>
              <a:latin typeface="Bradley Hand ITC" panose="0307040205030203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704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4420</TotalTime>
  <Words>427</Words>
  <Application>Microsoft Office PowerPoint</Application>
  <PresentationFormat>On-screen Show (4:3)</PresentationFormat>
  <Paragraphs>102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Bradley Hand ITC</vt:lpstr>
      <vt:lpstr>Calibri</vt:lpstr>
      <vt:lpstr>Times New Roman</vt:lpstr>
      <vt:lpstr>Office Theme</vt:lpstr>
      <vt:lpstr>End-to-End DevOps Pipeline on Azure using GitOps</vt:lpstr>
      <vt:lpstr>Project Objective</vt:lpstr>
      <vt:lpstr>High-Level Architecture</vt:lpstr>
      <vt:lpstr>ARCHITECTURE DIAGRAM (END-TO-END)</vt:lpstr>
      <vt:lpstr>Application Layer (.NET API)</vt:lpstr>
      <vt:lpstr>Infrastructure as Code (Terraform)</vt:lpstr>
      <vt:lpstr>CI: GitHub Actions</vt:lpstr>
      <vt:lpstr>Azure Container Registry (ACR)</vt:lpstr>
      <vt:lpstr>CD: GitOps with Argo CD</vt:lpstr>
      <vt:lpstr>Automatic Image Updates</vt:lpstr>
      <vt:lpstr>Observability</vt:lpstr>
      <vt:lpstr>Conclusion</vt:lpstr>
      <vt:lpstr>THANKS FOR LISTENING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DevOps Pipeline on Azure using GitOps</dc:title>
  <dc:subject/>
  <dc:creator/>
  <cp:keywords/>
  <dc:description>generated using python-pptx</dc:description>
  <cp:lastModifiedBy>HP</cp:lastModifiedBy>
  <cp:revision>50</cp:revision>
  <dcterms:created xsi:type="dcterms:W3CDTF">2013-01-27T09:14:16Z</dcterms:created>
  <dcterms:modified xsi:type="dcterms:W3CDTF">2026-01-29T08:19:13Z</dcterms:modified>
  <cp:category/>
</cp:coreProperties>
</file>