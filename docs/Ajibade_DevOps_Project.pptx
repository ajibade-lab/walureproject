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96" r:id="rId2"/>
  </p:sldMasterIdLst>
  <p:notesMasterIdLst>
    <p:notesMasterId r:id="rId19"/>
  </p:notesMasterIdLst>
  <p:sldIdLst>
    <p:sldId id="256" r:id="rId3"/>
    <p:sldId id="257" r:id="rId4"/>
    <p:sldId id="270" r:id="rId5"/>
    <p:sldId id="267" r:id="rId6"/>
    <p:sldId id="259" r:id="rId7"/>
    <p:sldId id="273" r:id="rId8"/>
    <p:sldId id="260" r:id="rId9"/>
    <p:sldId id="261" r:id="rId10"/>
    <p:sldId id="269" r:id="rId11"/>
    <p:sldId id="262" r:id="rId12"/>
    <p:sldId id="263" r:id="rId13"/>
    <p:sldId id="264" r:id="rId14"/>
    <p:sldId id="271" r:id="rId15"/>
    <p:sldId id="272" r:id="rId16"/>
    <p:sldId id="265" r:id="rId17"/>
    <p:sldId id="268"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003" autoAdjust="0"/>
  </p:normalViewPr>
  <p:slideViewPr>
    <p:cSldViewPr snapToGrid="0" snapToObjects="1">
      <p:cViewPr varScale="1">
        <p:scale>
          <a:sx n="65" d="100"/>
          <a:sy n="65" d="100"/>
        </p:scale>
        <p:origin x="1300"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451B4E-638F-4418-ADB5-33E847636117}" type="datetimeFigureOut">
              <a:rPr lang="en-US" smtClean="0"/>
              <a:t>31-Jan-26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6958E2-2B4A-4C25-BF05-A265C473CB9D}" type="slidenum">
              <a:rPr lang="en-US" smtClean="0"/>
              <a:t>‹#›</a:t>
            </a:fld>
            <a:endParaRPr lang="en-US"/>
          </a:p>
        </p:txBody>
      </p:sp>
    </p:spTree>
    <p:extLst>
      <p:ext uri="{BB962C8B-B14F-4D97-AF65-F5344CB8AC3E}">
        <p14:creationId xmlns:p14="http://schemas.microsoft.com/office/powerpoint/2010/main" val="660787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ASP.NET Core</a:t>
            </a:r>
            <a:r>
              <a:rPr lang="en-US" sz="1200" b="1" i="0" kern="1200" baseline="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Web API (Web Application Programming Interface)</a:t>
            </a:r>
            <a:r>
              <a:rPr lang="en-US" sz="1200" b="0" i="0" kern="1200" dirty="0" smtClean="0">
                <a:solidFill>
                  <a:schemeClr val="tx1"/>
                </a:solidFill>
                <a:effectLst/>
                <a:latin typeface="+mn-lt"/>
                <a:ea typeface="+mn-ea"/>
                <a:cs typeface="+mn-cs"/>
              </a:rPr>
              <a:t> is a </a:t>
            </a:r>
            <a:r>
              <a:rPr lang="en-US" sz="1200" b="1" i="0" kern="1200" dirty="0" smtClean="0">
                <a:solidFill>
                  <a:schemeClr val="tx1"/>
                </a:solidFill>
                <a:effectLst/>
                <a:latin typeface="+mn-lt"/>
                <a:ea typeface="+mn-ea"/>
                <a:cs typeface="+mn-cs"/>
              </a:rPr>
              <a:t>bridge</a:t>
            </a:r>
            <a:r>
              <a:rPr lang="en-US" sz="1200" b="0" i="0" kern="1200" dirty="0" smtClean="0">
                <a:solidFill>
                  <a:schemeClr val="tx1"/>
                </a:solidFill>
                <a:effectLst/>
                <a:latin typeface="+mn-lt"/>
                <a:ea typeface="+mn-ea"/>
                <a:cs typeface="+mn-cs"/>
              </a:rPr>
              <a:t> that enables different software applications to communicate with each other over the internet. It enables developers to create lightweight, scalable, and secure APIs that multiple types of clients can consume. Instead of directly connecting databases or systems.</a:t>
            </a:r>
          </a:p>
          <a:p>
            <a:r>
              <a:rPr lang="en-US" sz="1200" b="0" i="0" kern="1200" dirty="0" smtClean="0">
                <a:solidFill>
                  <a:schemeClr val="tx1"/>
                </a:solidFill>
                <a:effectLst/>
                <a:latin typeface="+mn-lt"/>
                <a:ea typeface="+mn-ea"/>
                <a:cs typeface="+mn-cs"/>
              </a:rPr>
              <a:t>Today, businesses can’t rely solely on a website because users access data from </a:t>
            </a:r>
            <a:r>
              <a:rPr lang="en-US" sz="1200" b="1" i="0" kern="1200" dirty="0" smtClean="0">
                <a:solidFill>
                  <a:schemeClr val="tx1"/>
                </a:solidFill>
                <a:effectLst/>
                <a:latin typeface="+mn-lt"/>
                <a:ea typeface="+mn-ea"/>
                <a:cs typeface="+mn-cs"/>
              </a:rPr>
              <a:t>multiple devices,</a:t>
            </a:r>
            <a:r>
              <a:rPr lang="en-US" sz="1200" b="0" i="0" kern="1200" dirty="0" smtClean="0">
                <a:solidFill>
                  <a:schemeClr val="tx1"/>
                </a:solidFill>
                <a:effectLst/>
                <a:latin typeface="+mn-lt"/>
                <a:ea typeface="+mn-ea"/>
                <a:cs typeface="+mn-cs"/>
              </a:rPr>
              <a:t> including </a:t>
            </a:r>
            <a:r>
              <a:rPr lang="en-US" sz="1200" b="1" i="0" kern="1200" dirty="0" smtClean="0">
                <a:solidFill>
                  <a:schemeClr val="tx1"/>
                </a:solidFill>
                <a:effectLst/>
                <a:latin typeface="+mn-lt"/>
                <a:ea typeface="+mn-ea"/>
                <a:cs typeface="+mn-cs"/>
              </a:rPr>
              <a:t>smartphones, tablets, smart TVs, </a:t>
            </a:r>
            <a:r>
              <a:rPr lang="en-US" sz="1200" b="1" i="0" kern="1200" dirty="0" err="1" smtClean="0">
                <a:solidFill>
                  <a:schemeClr val="tx1"/>
                </a:solidFill>
                <a:effectLst/>
                <a:latin typeface="+mn-lt"/>
                <a:ea typeface="+mn-ea"/>
                <a:cs typeface="+mn-cs"/>
              </a:rPr>
              <a:t>IoT</a:t>
            </a:r>
            <a:r>
              <a:rPr lang="en-US" sz="1200" b="1" i="0" kern="1200" dirty="0" smtClean="0">
                <a:solidFill>
                  <a:schemeClr val="tx1"/>
                </a:solidFill>
                <a:effectLst/>
                <a:latin typeface="+mn-lt"/>
                <a:ea typeface="+mn-ea"/>
                <a:cs typeface="+mn-cs"/>
              </a:rPr>
              <a:t> devices, and even voice assistants</a:t>
            </a:r>
            <a:r>
              <a:rPr lang="en-US" sz="1200" b="0" i="0" kern="1200" dirty="0" smtClean="0">
                <a:solidFill>
                  <a:schemeClr val="tx1"/>
                </a:solidFill>
                <a:effectLst/>
                <a:latin typeface="+mn-lt"/>
                <a:ea typeface="+mn-ea"/>
                <a:cs typeface="+mn-cs"/>
              </a:rPr>
              <a:t>. To support this </a:t>
            </a:r>
            <a:r>
              <a:rPr lang="en-US" sz="1200" b="1" i="0" kern="1200" dirty="0" smtClean="0">
                <a:solidFill>
                  <a:schemeClr val="tx1"/>
                </a:solidFill>
                <a:effectLst/>
                <a:latin typeface="+mn-lt"/>
                <a:ea typeface="+mn-ea"/>
                <a:cs typeface="+mn-cs"/>
              </a:rPr>
              <a:t>multi-device ecosystem</a:t>
            </a:r>
            <a:r>
              <a:rPr lang="en-US" sz="1200" b="0" i="0" kern="1200" dirty="0" smtClean="0">
                <a:solidFill>
                  <a:schemeClr val="tx1"/>
                </a:solidFill>
                <a:effectLst/>
                <a:latin typeface="+mn-lt"/>
                <a:ea typeface="+mn-ea"/>
                <a:cs typeface="+mn-cs"/>
              </a:rPr>
              <a:t>, you need a central way of exposing your business data and services. That’s where ASP.NET Core Web API comes in: it acts as a </a:t>
            </a:r>
            <a:r>
              <a:rPr lang="en-US" sz="1200" b="1" i="0" kern="1200" dirty="0" smtClean="0">
                <a:solidFill>
                  <a:schemeClr val="tx1"/>
                </a:solidFill>
                <a:effectLst/>
                <a:latin typeface="+mn-lt"/>
                <a:ea typeface="+mn-ea"/>
                <a:cs typeface="+mn-cs"/>
              </a:rPr>
              <a:t>single interface</a:t>
            </a:r>
            <a:r>
              <a:rPr lang="en-US" sz="1200" b="0" i="0" kern="1200" dirty="0" smtClean="0">
                <a:solidFill>
                  <a:schemeClr val="tx1"/>
                </a:solidFill>
                <a:effectLst/>
                <a:latin typeface="+mn-lt"/>
                <a:ea typeface="+mn-ea"/>
                <a:cs typeface="+mn-cs"/>
              </a:rPr>
              <a:t> between your business data and all the clients. </a:t>
            </a:r>
            <a:r>
              <a:rPr lang="en-US" sz="1200" b="1" i="0" kern="1200" dirty="0" smtClean="0">
                <a:solidFill>
                  <a:schemeClr val="tx1"/>
                </a:solidFill>
                <a:effectLst/>
                <a:latin typeface="+mn-lt"/>
                <a:ea typeface="+mn-ea"/>
                <a:cs typeface="+mn-cs"/>
              </a:rPr>
              <a:t>Reasons We Need It:</a:t>
            </a:r>
          </a:p>
          <a:p>
            <a:pPr marL="171450" indent="-171450" fontAlgn="base">
              <a:buFont typeface="Arial" panose="020B0604020202020204" pitchFamily="34" charset="0"/>
              <a:buChar char="•"/>
            </a:pPr>
            <a:r>
              <a:rPr lang="en-US" sz="1200" b="1" i="0" kern="1200" dirty="0" smtClean="0">
                <a:solidFill>
                  <a:schemeClr val="tx1"/>
                </a:solidFill>
                <a:effectLst/>
                <a:latin typeface="+mn-lt"/>
                <a:ea typeface="+mn-ea"/>
                <a:cs typeface="+mn-cs"/>
              </a:rPr>
              <a:t>Multi-Device Access:</a:t>
            </a:r>
            <a:r>
              <a:rPr lang="en-US" sz="1200" b="0" i="0" kern="1200" dirty="0" smtClean="0">
                <a:solidFill>
                  <a:schemeClr val="tx1"/>
                </a:solidFill>
                <a:effectLst/>
                <a:latin typeface="+mn-lt"/>
                <a:ea typeface="+mn-ea"/>
                <a:cs typeface="+mn-cs"/>
              </a:rPr>
              <a:t> One API can serve browsers, mobile apps, and </a:t>
            </a:r>
            <a:r>
              <a:rPr lang="en-US" sz="1200" b="0" i="0" kern="1200" dirty="0" err="1" smtClean="0">
                <a:solidFill>
                  <a:schemeClr val="tx1"/>
                </a:solidFill>
                <a:effectLst/>
                <a:latin typeface="+mn-lt"/>
                <a:ea typeface="+mn-ea"/>
                <a:cs typeface="+mn-cs"/>
              </a:rPr>
              <a:t>IoT</a:t>
            </a:r>
            <a:r>
              <a:rPr lang="en-US" sz="1200" b="0" i="0" kern="1200" dirty="0" smtClean="0">
                <a:solidFill>
                  <a:schemeClr val="tx1"/>
                </a:solidFill>
                <a:effectLst/>
                <a:latin typeface="+mn-lt"/>
                <a:ea typeface="+mn-ea"/>
                <a:cs typeface="+mn-cs"/>
              </a:rPr>
              <a:t> devices simultaneously.</a:t>
            </a:r>
          </a:p>
          <a:p>
            <a:pPr marL="171450" indent="-171450" fontAlgn="base">
              <a:buFont typeface="Arial" panose="020B0604020202020204" pitchFamily="34" charset="0"/>
              <a:buChar char="•"/>
            </a:pPr>
            <a:r>
              <a:rPr lang="en-US" sz="1200" b="1" i="0" kern="1200" dirty="0" smtClean="0">
                <a:solidFill>
                  <a:schemeClr val="tx1"/>
                </a:solidFill>
                <a:effectLst/>
                <a:latin typeface="+mn-lt"/>
                <a:ea typeface="+mn-ea"/>
                <a:cs typeface="+mn-cs"/>
              </a:rPr>
              <a:t>Separation of Concerns:</a:t>
            </a:r>
            <a:r>
              <a:rPr lang="en-US" sz="1200" b="0" i="0" kern="1200" dirty="0" smtClean="0">
                <a:solidFill>
                  <a:schemeClr val="tx1"/>
                </a:solidFill>
                <a:effectLst/>
                <a:latin typeface="+mn-lt"/>
                <a:ea typeface="+mn-ea"/>
                <a:cs typeface="+mn-cs"/>
              </a:rPr>
              <a:t> Business logic lives in the API, while clients only consume the data.</a:t>
            </a:r>
          </a:p>
          <a:p>
            <a:pPr marL="171450" indent="-171450" fontAlgn="base">
              <a:buFont typeface="Arial" panose="020B0604020202020204" pitchFamily="34" charset="0"/>
              <a:buChar char="•"/>
            </a:pPr>
            <a:r>
              <a:rPr lang="en-US" sz="1200" b="1" i="0" kern="1200" dirty="0" smtClean="0">
                <a:solidFill>
                  <a:schemeClr val="tx1"/>
                </a:solidFill>
                <a:effectLst/>
                <a:latin typeface="+mn-lt"/>
                <a:ea typeface="+mn-ea"/>
                <a:cs typeface="+mn-cs"/>
              </a:rPr>
              <a:t>Scalability:</a:t>
            </a:r>
            <a:r>
              <a:rPr lang="en-US" sz="1200" b="0" i="0" kern="1200" dirty="0" smtClean="0">
                <a:solidFill>
                  <a:schemeClr val="tx1"/>
                </a:solidFill>
                <a:effectLst/>
                <a:latin typeface="+mn-lt"/>
                <a:ea typeface="+mn-ea"/>
                <a:cs typeface="+mn-cs"/>
              </a:rPr>
              <a:t> APIs can handle thousands/millions of requests if built on a high-performance framework like ASP.NET Core.</a:t>
            </a:r>
          </a:p>
          <a:p>
            <a:r>
              <a:rPr lang="en-US" sz="1200" b="1" i="0" kern="1200" dirty="0" smtClean="0">
                <a:solidFill>
                  <a:schemeClr val="tx1"/>
                </a:solidFill>
                <a:effectLst/>
                <a:latin typeface="+mn-lt"/>
                <a:ea typeface="+mn-ea"/>
                <a:cs typeface="+mn-cs"/>
              </a:rPr>
              <a:t>In simple terms,</a:t>
            </a:r>
            <a:r>
              <a:rPr lang="en-US" sz="1200" b="0" i="0" kern="1200" dirty="0" smtClean="0">
                <a:solidFill>
                  <a:schemeClr val="tx1"/>
                </a:solidFill>
                <a:effectLst/>
                <a:latin typeface="+mn-lt"/>
                <a:ea typeface="+mn-ea"/>
                <a:cs typeface="+mn-cs"/>
              </a:rPr>
              <a:t> ASP.NET Core Web API is needed because it allows businesses to </a:t>
            </a:r>
            <a:r>
              <a:rPr lang="en-US" sz="1200" b="1" i="0" kern="1200" dirty="0" smtClean="0">
                <a:solidFill>
                  <a:schemeClr val="tx1"/>
                </a:solidFill>
                <a:effectLst/>
                <a:latin typeface="+mn-lt"/>
                <a:ea typeface="+mn-ea"/>
                <a:cs typeface="+mn-cs"/>
              </a:rPr>
              <a:t>expose their data and services securely</a:t>
            </a:r>
            <a:r>
              <a:rPr lang="en-US" sz="1200" b="0" i="0" kern="1200" dirty="0" smtClean="0">
                <a:solidFill>
                  <a:schemeClr val="tx1"/>
                </a:solidFill>
                <a:effectLst/>
                <a:latin typeface="+mn-lt"/>
                <a:ea typeface="+mn-ea"/>
                <a:cs typeface="+mn-cs"/>
              </a:rPr>
              <a:t> to all kinds of devices in a </a:t>
            </a:r>
            <a:r>
              <a:rPr lang="en-US" sz="1200" b="1" i="0" kern="1200" dirty="0" smtClean="0">
                <a:solidFill>
                  <a:schemeClr val="tx1"/>
                </a:solidFill>
                <a:effectLst/>
                <a:latin typeface="+mn-lt"/>
                <a:ea typeface="+mn-ea"/>
                <a:cs typeface="+mn-cs"/>
              </a:rPr>
              <a:t>fast, modern, and scalable</a:t>
            </a:r>
            <a:r>
              <a:rPr lang="en-US" sz="1200" b="0" i="0" kern="1200" dirty="0" smtClean="0">
                <a:solidFill>
                  <a:schemeClr val="tx1"/>
                </a:solidFill>
                <a:effectLst/>
                <a:latin typeface="+mn-lt"/>
                <a:ea typeface="+mn-ea"/>
                <a:cs typeface="+mn-cs"/>
              </a:rPr>
              <a:t> way.</a:t>
            </a: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P.S</a:t>
            </a:r>
            <a:r>
              <a:rPr lang="en-US" sz="1200" b="0" i="1" kern="1200" baseline="0" dirty="0" smtClean="0">
                <a:solidFill>
                  <a:schemeClr val="tx1"/>
                </a:solidFill>
                <a:effectLst/>
                <a:latin typeface="+mn-lt"/>
                <a:ea typeface="+mn-ea"/>
                <a:cs typeface="+mn-cs"/>
              </a:rPr>
              <a:t> - </a:t>
            </a:r>
            <a:r>
              <a:rPr lang="en-US" sz="1200" b="0" i="1" kern="1200" dirty="0" smtClean="0">
                <a:solidFill>
                  <a:schemeClr val="tx1"/>
                </a:solidFill>
                <a:effectLst/>
                <a:latin typeface="+mn-lt"/>
                <a:ea typeface="+mn-ea"/>
                <a:cs typeface="+mn-cs"/>
              </a:rPr>
              <a:t>A Web API is like a waiter in a restaurant; it takes your order (request), passes it to the kitchen (server), and brings back the food (response).</a:t>
            </a:r>
            <a:endParaRPr lang="en-US" i="1" dirty="0"/>
          </a:p>
        </p:txBody>
      </p:sp>
      <p:sp>
        <p:nvSpPr>
          <p:cNvPr id="4" name="Slide Number Placeholder 3"/>
          <p:cNvSpPr>
            <a:spLocks noGrp="1"/>
          </p:cNvSpPr>
          <p:nvPr>
            <p:ph type="sldNum" sz="quarter" idx="10"/>
          </p:nvPr>
        </p:nvSpPr>
        <p:spPr/>
        <p:txBody>
          <a:bodyPr/>
          <a:lstStyle/>
          <a:p>
            <a:fld id="{1E6958E2-2B4A-4C25-BF05-A265C473CB9D}" type="slidenum">
              <a:rPr lang="en-US" smtClean="0"/>
              <a:t>5</a:t>
            </a:fld>
            <a:endParaRPr lang="en-US"/>
          </a:p>
        </p:txBody>
      </p:sp>
    </p:spTree>
    <p:extLst>
      <p:ext uri="{BB962C8B-B14F-4D97-AF65-F5344CB8AC3E}">
        <p14:creationId xmlns:p14="http://schemas.microsoft.com/office/powerpoint/2010/main" val="3693272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Infrastructure as Code (</a:t>
            </a:r>
            <a:r>
              <a:rPr lang="en-US" sz="1200" b="1" i="0" kern="1200" dirty="0" err="1" smtClean="0">
                <a:solidFill>
                  <a:schemeClr val="tx1"/>
                </a:solidFill>
                <a:effectLst/>
                <a:latin typeface="+mn-lt"/>
                <a:ea typeface="+mn-ea"/>
                <a:cs typeface="+mn-cs"/>
              </a:rPr>
              <a:t>IaC</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tools allow you to manage infrastructure with configuration files rather than through a graphical user interface. </a:t>
            </a:r>
            <a:r>
              <a:rPr lang="en-US" sz="1200" b="0" i="0" kern="1200" dirty="0" err="1" smtClean="0">
                <a:solidFill>
                  <a:schemeClr val="tx1"/>
                </a:solidFill>
                <a:effectLst/>
                <a:latin typeface="+mn-lt"/>
                <a:ea typeface="+mn-ea"/>
                <a:cs typeface="+mn-cs"/>
              </a:rPr>
              <a:t>IaC</a:t>
            </a:r>
            <a:r>
              <a:rPr lang="en-US" sz="1200" b="0" i="0" kern="1200" dirty="0" smtClean="0">
                <a:solidFill>
                  <a:schemeClr val="tx1"/>
                </a:solidFill>
                <a:effectLst/>
                <a:latin typeface="+mn-lt"/>
                <a:ea typeface="+mn-ea"/>
                <a:cs typeface="+mn-cs"/>
              </a:rPr>
              <a:t> allows you to build, change, and manage your infrastructure in a safe, consistent, and repeatable way by defining resource configurations that you can version, reuse, and share.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Terraform</a:t>
            </a:r>
            <a:r>
              <a:rPr lang="en-US" sz="1200" b="0" i="0" kern="1200" dirty="0" smtClean="0">
                <a:solidFill>
                  <a:schemeClr val="tx1"/>
                </a:solidFill>
                <a:effectLst/>
                <a:latin typeface="+mn-lt"/>
                <a:ea typeface="+mn-ea"/>
                <a:cs typeface="+mn-cs"/>
              </a:rPr>
              <a:t> is an open-source Infrastructure as Code (</a:t>
            </a:r>
            <a:r>
              <a:rPr lang="en-US" sz="1200" b="0" i="0" kern="1200" dirty="0" err="1" smtClean="0">
                <a:solidFill>
                  <a:schemeClr val="tx1"/>
                </a:solidFill>
                <a:effectLst/>
                <a:latin typeface="+mn-lt"/>
                <a:ea typeface="+mn-ea"/>
                <a:cs typeface="+mn-cs"/>
              </a:rPr>
              <a:t>IaC</a:t>
            </a:r>
            <a:r>
              <a:rPr lang="en-US" sz="1200" b="0" i="0" kern="1200" dirty="0" smtClean="0">
                <a:solidFill>
                  <a:schemeClr val="tx1"/>
                </a:solidFill>
                <a:effectLst/>
                <a:latin typeface="+mn-lt"/>
                <a:ea typeface="+mn-ea"/>
                <a:cs typeface="+mn-cs"/>
              </a:rPr>
              <a:t>) tool by </a:t>
            </a:r>
            <a:r>
              <a:rPr lang="en-US" sz="1200" b="0" i="0" kern="1200" dirty="0" err="1" smtClean="0">
                <a:solidFill>
                  <a:schemeClr val="tx1"/>
                </a:solidFill>
                <a:effectLst/>
                <a:latin typeface="+mn-lt"/>
                <a:ea typeface="+mn-ea"/>
                <a:cs typeface="+mn-cs"/>
              </a:rPr>
              <a:t>HashiCorp</a:t>
            </a:r>
            <a:r>
              <a:rPr lang="en-US" sz="1200" b="0" i="0" kern="1200" dirty="0" smtClean="0">
                <a:solidFill>
                  <a:schemeClr val="tx1"/>
                </a:solidFill>
                <a:effectLst/>
                <a:latin typeface="+mn-lt"/>
                <a:ea typeface="+mn-ea"/>
                <a:cs typeface="+mn-cs"/>
              </a:rPr>
              <a:t> that </a:t>
            </a:r>
            <a:r>
              <a:rPr lang="en-US" dirty="0" smtClean="0"/>
              <a:t>allows for safe, efficient, and consistent provisioning of cloud, on-premises, and </a:t>
            </a:r>
            <a:r>
              <a:rPr lang="en-US" dirty="0" err="1" smtClean="0"/>
              <a:t>SaaS</a:t>
            </a:r>
            <a:r>
              <a:rPr lang="en-US" dirty="0" smtClean="0"/>
              <a:t> resources using declarative configuration files</a:t>
            </a:r>
            <a:r>
              <a:rPr lang="en-US" sz="1200" b="0" i="0" kern="1200" dirty="0" smtClean="0">
                <a:solidFill>
                  <a:schemeClr val="tx1"/>
                </a:solidFill>
                <a:effectLst/>
                <a:latin typeface="+mn-lt"/>
                <a:ea typeface="+mn-ea"/>
                <a:cs typeface="+mn-cs"/>
              </a:rPr>
              <a:t>. It automates the entire lifecycle—creation, management, and destruction—of infrastructure components (servers, networking, databases) across multiple platforms. </a:t>
            </a:r>
          </a:p>
          <a:p>
            <a:r>
              <a:rPr lang="en-US" sz="1200" b="0" i="0" kern="1200" dirty="0" smtClean="0">
                <a:solidFill>
                  <a:schemeClr val="tx1"/>
                </a:solidFill>
                <a:effectLst/>
                <a:latin typeface="+mn-lt"/>
                <a:ea typeface="+mn-ea"/>
                <a:cs typeface="+mn-cs"/>
              </a:rPr>
              <a:t>Using Terraform has several advantages over manually managing your infrastructure:</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Terraform can manage infrastructure on multiple cloud platforms.</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The human-readable configuration language helps you write infrastructure code quickly.</a:t>
            </a:r>
          </a:p>
          <a:p>
            <a:pPr marL="171450" indent="-171450">
              <a:buFont typeface="Arial" panose="020B0604020202020204" pitchFamily="34" charset="0"/>
              <a:buChar char="•"/>
            </a:pPr>
            <a:r>
              <a:rPr lang="en-US" sz="1200" b="0" i="0" kern="1200" dirty="0" err="1" smtClean="0">
                <a:solidFill>
                  <a:schemeClr val="tx1"/>
                </a:solidFill>
                <a:effectLst/>
                <a:latin typeface="+mn-lt"/>
                <a:ea typeface="+mn-ea"/>
                <a:cs typeface="+mn-cs"/>
              </a:rPr>
              <a:t>Terraform's</a:t>
            </a:r>
            <a:r>
              <a:rPr lang="en-US" sz="1200" b="0" i="0" kern="1200" dirty="0" smtClean="0">
                <a:solidFill>
                  <a:schemeClr val="tx1"/>
                </a:solidFill>
                <a:effectLst/>
                <a:latin typeface="+mn-lt"/>
                <a:ea typeface="+mn-ea"/>
                <a:cs typeface="+mn-cs"/>
              </a:rPr>
              <a:t> state allows you to track resource changes throughout your deployments.</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You can commit your configurations to version control to safely collaborate on infrastructure.</a:t>
            </a:r>
          </a:p>
          <a:p>
            <a:r>
              <a:rPr lang="en-US" sz="1200" b="0" i="0" kern="1200" dirty="0" smtClean="0">
                <a:solidFill>
                  <a:schemeClr val="tx1"/>
                </a:solidFill>
                <a:effectLst/>
                <a:latin typeface="+mn-lt"/>
                <a:ea typeface="+mn-ea"/>
                <a:cs typeface="+mn-cs"/>
              </a:rPr>
              <a:t>To deploy infrastructure with Terraform:</a:t>
            </a:r>
          </a:p>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Scope</a:t>
            </a:r>
            <a:r>
              <a:rPr lang="en-US" sz="1200" b="0" i="0" kern="1200" dirty="0" smtClean="0">
                <a:solidFill>
                  <a:schemeClr val="tx1"/>
                </a:solidFill>
                <a:effectLst/>
                <a:latin typeface="+mn-lt"/>
                <a:ea typeface="+mn-ea"/>
                <a:cs typeface="+mn-cs"/>
              </a:rPr>
              <a:t> - Identify the infrastructure for your project.</a:t>
            </a:r>
          </a:p>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Author</a:t>
            </a:r>
            <a:r>
              <a:rPr lang="en-US" sz="1200" b="0" i="0" kern="1200" dirty="0" smtClean="0">
                <a:solidFill>
                  <a:schemeClr val="tx1"/>
                </a:solidFill>
                <a:effectLst/>
                <a:latin typeface="+mn-lt"/>
                <a:ea typeface="+mn-ea"/>
                <a:cs typeface="+mn-cs"/>
              </a:rPr>
              <a:t> - Write the configuration for your infrastructure.</a:t>
            </a:r>
          </a:p>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Initialize</a:t>
            </a:r>
            <a:r>
              <a:rPr lang="en-US" sz="1200" b="0" i="0" kern="1200" dirty="0" smtClean="0">
                <a:solidFill>
                  <a:schemeClr val="tx1"/>
                </a:solidFill>
                <a:effectLst/>
                <a:latin typeface="+mn-lt"/>
                <a:ea typeface="+mn-ea"/>
                <a:cs typeface="+mn-cs"/>
              </a:rPr>
              <a:t> - Install the plugins Terraform needs to manage the infrastructure.</a:t>
            </a:r>
          </a:p>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Plan</a:t>
            </a:r>
            <a:r>
              <a:rPr lang="en-US" sz="1200" b="0" i="0" kern="1200" dirty="0" smtClean="0">
                <a:solidFill>
                  <a:schemeClr val="tx1"/>
                </a:solidFill>
                <a:effectLst/>
                <a:latin typeface="+mn-lt"/>
                <a:ea typeface="+mn-ea"/>
                <a:cs typeface="+mn-cs"/>
              </a:rPr>
              <a:t> - Preview the changes Terraform will make to match your configuration.</a:t>
            </a:r>
          </a:p>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Apply</a:t>
            </a:r>
            <a:r>
              <a:rPr lang="en-US" sz="1200" b="0" i="0" kern="1200" dirty="0" smtClean="0">
                <a:solidFill>
                  <a:schemeClr val="tx1"/>
                </a:solidFill>
                <a:effectLst/>
                <a:latin typeface="+mn-lt"/>
                <a:ea typeface="+mn-ea"/>
                <a:cs typeface="+mn-cs"/>
              </a:rPr>
              <a:t> - Make the </a:t>
            </a:r>
            <a:r>
              <a:rPr lang="en-US" sz="1200" b="0" i="0" kern="1200" dirty="0" err="1" smtClean="0">
                <a:solidFill>
                  <a:schemeClr val="tx1"/>
                </a:solidFill>
                <a:effectLst/>
                <a:latin typeface="+mn-lt"/>
                <a:ea typeface="+mn-ea"/>
                <a:cs typeface="+mn-cs"/>
              </a:rPr>
              <a:t>plannsed</a:t>
            </a:r>
            <a:r>
              <a:rPr lang="en-US" sz="1200" b="0" i="0" kern="1200" dirty="0" smtClean="0">
                <a:solidFill>
                  <a:schemeClr val="tx1"/>
                </a:solidFill>
                <a:effectLst/>
                <a:latin typeface="+mn-lt"/>
                <a:ea typeface="+mn-ea"/>
                <a:cs typeface="+mn-cs"/>
              </a:rPr>
              <a:t> changes.</a:t>
            </a:r>
          </a:p>
          <a:p>
            <a:pPr marL="171450" indent="-171450">
              <a:buFont typeface="Arial" panose="020B0604020202020204" pitchFamily="34" charset="0"/>
              <a:buChar char="•"/>
            </a:pPr>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E6958E2-2B4A-4C25-BF05-A265C473CB9D}" type="slidenum">
              <a:rPr lang="en-US" smtClean="0"/>
              <a:t>7</a:t>
            </a:fld>
            <a:endParaRPr lang="en-US"/>
          </a:p>
        </p:txBody>
      </p:sp>
    </p:spTree>
    <p:extLst>
      <p:ext uri="{BB962C8B-B14F-4D97-AF65-F5344CB8AC3E}">
        <p14:creationId xmlns:p14="http://schemas.microsoft.com/office/powerpoint/2010/main" val="909782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GitHub</a:t>
            </a:r>
            <a:r>
              <a:rPr lang="en-US" dirty="0" smtClean="0"/>
              <a:t> Actions is a </a:t>
            </a:r>
            <a:r>
              <a:rPr lang="en-US" b="1" dirty="0" smtClean="0">
                <a:effectLst/>
              </a:rPr>
              <a:t>continuous integration (CI)</a:t>
            </a:r>
            <a:r>
              <a:rPr lang="en-US" dirty="0" smtClean="0"/>
              <a:t> and continuous delivery (CD) platform that allows you to automate your software development workflows directly within your </a:t>
            </a:r>
            <a:r>
              <a:rPr lang="en-US" dirty="0" err="1" smtClean="0"/>
              <a:t>GitHub</a:t>
            </a:r>
            <a:r>
              <a:rPr lang="en-US" dirty="0" smtClean="0"/>
              <a:t> repository</a:t>
            </a:r>
            <a:r>
              <a:rPr lang="en-US" sz="1200" b="0" i="0" kern="1200" dirty="0" smtClean="0">
                <a:solidFill>
                  <a:schemeClr val="tx1"/>
                </a:solidFill>
                <a:effectLst/>
                <a:latin typeface="+mn-lt"/>
                <a:ea typeface="+mn-ea"/>
                <a:cs typeface="+mn-cs"/>
              </a:rPr>
              <a:t>. It provides a built-in, event-driven automation tool that is deeply integrated with the </a:t>
            </a:r>
            <a:r>
              <a:rPr lang="en-US" sz="1200" b="0" i="0" kern="1200" dirty="0" err="1" smtClean="0">
                <a:solidFill>
                  <a:schemeClr val="tx1"/>
                </a:solidFill>
                <a:effectLst/>
                <a:latin typeface="+mn-lt"/>
                <a:ea typeface="+mn-ea"/>
                <a:cs typeface="+mn-cs"/>
              </a:rPr>
              <a:t>GitHub</a:t>
            </a:r>
            <a:r>
              <a:rPr lang="en-US" sz="1200" b="0" i="0" kern="1200" dirty="0" smtClean="0">
                <a:solidFill>
                  <a:schemeClr val="tx1"/>
                </a:solidFill>
                <a:effectLst/>
                <a:latin typeface="+mn-lt"/>
                <a:ea typeface="+mn-ea"/>
                <a:cs typeface="+mn-cs"/>
              </a:rPr>
              <a:t> platform. </a:t>
            </a:r>
            <a:endParaRPr lang="en-US" dirty="0"/>
          </a:p>
        </p:txBody>
      </p:sp>
      <p:sp>
        <p:nvSpPr>
          <p:cNvPr id="4" name="Slide Number Placeholder 3"/>
          <p:cNvSpPr>
            <a:spLocks noGrp="1"/>
          </p:cNvSpPr>
          <p:nvPr>
            <p:ph type="sldNum" sz="quarter" idx="10"/>
          </p:nvPr>
        </p:nvSpPr>
        <p:spPr/>
        <p:txBody>
          <a:bodyPr/>
          <a:lstStyle/>
          <a:p>
            <a:fld id="{1E6958E2-2B4A-4C25-BF05-A265C473CB9D}" type="slidenum">
              <a:rPr lang="en-US" smtClean="0"/>
              <a:t>8</a:t>
            </a:fld>
            <a:endParaRPr lang="en-US"/>
          </a:p>
        </p:txBody>
      </p:sp>
    </p:spTree>
    <p:extLst>
      <p:ext uri="{BB962C8B-B14F-4D97-AF65-F5344CB8AC3E}">
        <p14:creationId xmlns:p14="http://schemas.microsoft.com/office/powerpoint/2010/main" val="839933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Azure</a:t>
            </a:r>
            <a:r>
              <a:rPr lang="en-US" dirty="0" smtClean="0"/>
              <a:t> </a:t>
            </a:r>
            <a:r>
              <a:rPr lang="en-US" b="0" dirty="0" smtClean="0"/>
              <a:t>Container</a:t>
            </a:r>
            <a:r>
              <a:rPr lang="en-US" dirty="0" smtClean="0"/>
              <a:t> Registry (ACR) and </a:t>
            </a:r>
            <a:r>
              <a:rPr lang="en-US" b="1" dirty="0" err="1" smtClean="0"/>
              <a:t>Docker</a:t>
            </a:r>
            <a:r>
              <a:rPr lang="en-US" dirty="0" smtClean="0"/>
              <a:t> </a:t>
            </a:r>
            <a:r>
              <a:rPr lang="en-US" b="1" dirty="0" smtClean="0"/>
              <a:t>Hub</a:t>
            </a:r>
            <a:r>
              <a:rPr lang="en-US" dirty="0" smtClean="0"/>
              <a:t> are both container registries used to store, manage, and distribute container images. The key difference is that </a:t>
            </a:r>
            <a:r>
              <a:rPr lang="en-US" dirty="0" err="1" smtClean="0"/>
              <a:t>Docker</a:t>
            </a:r>
            <a:r>
              <a:rPr lang="en-US" dirty="0" smtClean="0"/>
              <a:t> Hub is a public-facing registry and central library, while ACR is a private, fully managed service that integrates deeply with the Microsoft Azure ecosystem. </a:t>
            </a:r>
          </a:p>
          <a:p>
            <a:r>
              <a:rPr lang="en-US" b="1" dirty="0" err="1" smtClean="0"/>
              <a:t>Docker</a:t>
            </a:r>
            <a:r>
              <a:rPr lang="en-US" dirty="0" smtClean="0"/>
              <a:t> </a:t>
            </a:r>
            <a:r>
              <a:rPr lang="en-US" b="1" dirty="0" smtClean="0"/>
              <a:t>Hub</a:t>
            </a:r>
            <a:r>
              <a:rPr lang="en-US" dirty="0" smtClean="0"/>
              <a:t> acts as the central repository where </a:t>
            </a:r>
            <a:r>
              <a:rPr lang="en-US" b="1" dirty="0" err="1" smtClean="0"/>
              <a:t>Kubernetes</a:t>
            </a:r>
            <a:r>
              <a:rPr lang="en-US" dirty="0" smtClean="0"/>
              <a:t> pulls the container images needed to deploy and manage applications.</a:t>
            </a:r>
          </a:p>
        </p:txBody>
      </p:sp>
      <p:sp>
        <p:nvSpPr>
          <p:cNvPr id="4" name="Slide Number Placeholder 3"/>
          <p:cNvSpPr>
            <a:spLocks noGrp="1"/>
          </p:cNvSpPr>
          <p:nvPr>
            <p:ph type="sldNum" sz="quarter" idx="10"/>
          </p:nvPr>
        </p:nvSpPr>
        <p:spPr/>
        <p:txBody>
          <a:bodyPr/>
          <a:lstStyle/>
          <a:p>
            <a:fld id="{1E6958E2-2B4A-4C25-BF05-A265C473CB9D}" type="slidenum">
              <a:rPr lang="en-US" smtClean="0"/>
              <a:t>9</a:t>
            </a:fld>
            <a:endParaRPr lang="en-US"/>
          </a:p>
        </p:txBody>
      </p:sp>
    </p:spTree>
    <p:extLst>
      <p:ext uri="{BB962C8B-B14F-4D97-AF65-F5344CB8AC3E}">
        <p14:creationId xmlns:p14="http://schemas.microsoft.com/office/powerpoint/2010/main" val="43911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How the Workflow Operates</a:t>
            </a:r>
          </a:p>
          <a:p>
            <a:pPr marL="0" indent="0">
              <a:buFont typeface="Arial" panose="020B0604020202020204" pitchFamily="34" charset="0"/>
              <a:buNone/>
            </a:pPr>
            <a:r>
              <a:rPr lang="en-US" dirty="0" smtClean="0"/>
              <a:t>The interaction between </a:t>
            </a:r>
            <a:r>
              <a:rPr lang="en-US" dirty="0" err="1" smtClean="0"/>
              <a:t>Docker</a:t>
            </a:r>
            <a:r>
              <a:rPr lang="en-US" dirty="0" smtClean="0"/>
              <a:t> Hub and </a:t>
            </a:r>
            <a:r>
              <a:rPr lang="en-US" dirty="0" err="1" smtClean="0"/>
              <a:t>Kubernetes</a:t>
            </a:r>
            <a:r>
              <a:rPr lang="en-US" dirty="0" smtClean="0"/>
              <a:t> is typically part of a larger, automated workflow: </a:t>
            </a:r>
          </a:p>
          <a:p>
            <a:pPr marL="171450" indent="-171450">
              <a:buFont typeface="Arial" panose="020B0604020202020204" pitchFamily="34" charset="0"/>
              <a:buChar char="•"/>
            </a:pPr>
            <a:r>
              <a:rPr lang="en-US" b="1" dirty="0" smtClean="0"/>
              <a:t>Image Creation: </a:t>
            </a:r>
            <a:r>
              <a:rPr lang="en-US" dirty="0" smtClean="0"/>
              <a:t>Developers use </a:t>
            </a:r>
            <a:r>
              <a:rPr lang="en-US" dirty="0" err="1" smtClean="0"/>
              <a:t>Docker</a:t>
            </a:r>
            <a:r>
              <a:rPr lang="en-US" dirty="0" smtClean="0"/>
              <a:t> to define application requirements in a </a:t>
            </a:r>
            <a:r>
              <a:rPr lang="en-US" dirty="0" err="1" smtClean="0"/>
              <a:t>Dockerfile</a:t>
            </a:r>
            <a:r>
              <a:rPr lang="en-US" dirty="0" smtClean="0"/>
              <a:t> and build an image locally.</a:t>
            </a:r>
          </a:p>
          <a:p>
            <a:pPr marL="171450" indent="-171450">
              <a:buFont typeface="Arial" panose="020B0604020202020204" pitchFamily="34" charset="0"/>
              <a:buChar char="•"/>
            </a:pPr>
            <a:r>
              <a:rPr lang="en-US" b="1" dirty="0" smtClean="0"/>
              <a:t>Image Storage (Push): </a:t>
            </a:r>
            <a:r>
              <a:rPr lang="en-US" dirty="0" smtClean="0"/>
              <a:t>The resulting </a:t>
            </a:r>
            <a:r>
              <a:rPr lang="en-US" dirty="0" err="1" smtClean="0"/>
              <a:t>Docker</a:t>
            </a:r>
            <a:r>
              <a:rPr lang="en-US" dirty="0" smtClean="0"/>
              <a:t> image, which bundles the application and all its dependencies, is pushed (uploaded) to a repository on </a:t>
            </a:r>
            <a:r>
              <a:rPr lang="en-US" dirty="0" err="1" smtClean="0"/>
              <a:t>Docker</a:t>
            </a:r>
            <a:r>
              <a:rPr lang="en-US" dirty="0" smtClean="0"/>
              <a:t> Hub. Repositories can be public or private.</a:t>
            </a:r>
          </a:p>
          <a:p>
            <a:pPr marL="171450" indent="-171450">
              <a:buFont typeface="Arial" panose="020B0604020202020204" pitchFamily="34" charset="0"/>
              <a:buChar char="•"/>
            </a:pPr>
            <a:r>
              <a:rPr lang="en-US" b="1" dirty="0" smtClean="0"/>
              <a:t>Deployment Definition: </a:t>
            </a:r>
            <a:r>
              <a:rPr lang="en-US" dirty="0" smtClean="0"/>
              <a:t>A </a:t>
            </a:r>
            <a:r>
              <a:rPr lang="en-US" dirty="0" err="1" smtClean="0"/>
              <a:t>Kubernetes</a:t>
            </a:r>
            <a:r>
              <a:rPr lang="en-US" dirty="0" smtClean="0"/>
              <a:t> manifest file (usually YAML format) is created. This file specifies which container image to use (e.g., </a:t>
            </a:r>
            <a:r>
              <a:rPr lang="en-US" dirty="0" err="1" smtClean="0"/>
              <a:t>myusername</a:t>
            </a:r>
            <a:r>
              <a:rPr lang="en-US" dirty="0" smtClean="0"/>
              <a:t>/</a:t>
            </a:r>
            <a:r>
              <a:rPr lang="en-US" dirty="0" err="1" smtClean="0"/>
              <a:t>my-app:latest</a:t>
            </a:r>
            <a:r>
              <a:rPr lang="en-US" dirty="0" smtClean="0"/>
              <a:t>) and other deployment parameters, such as the desired number of replicas, scaling rules, and networking information.</a:t>
            </a:r>
          </a:p>
          <a:p>
            <a:pPr marL="171450" indent="-171450">
              <a:buFont typeface="Arial" panose="020B0604020202020204" pitchFamily="34" charset="0"/>
              <a:buChar char="•"/>
            </a:pPr>
            <a:r>
              <a:rPr lang="en-US" b="1" dirty="0" smtClean="0"/>
              <a:t>Orchestration (Pull): </a:t>
            </a:r>
            <a:r>
              <a:rPr lang="en-US" dirty="0" smtClean="0"/>
              <a:t>When a user or system applies the </a:t>
            </a:r>
            <a:r>
              <a:rPr lang="en-US" dirty="0" err="1" smtClean="0"/>
              <a:t>Kubernetes</a:t>
            </a:r>
            <a:r>
              <a:rPr lang="en-US" dirty="0" smtClean="0"/>
              <a:t> manifest to a cluster using a command like </a:t>
            </a:r>
            <a:r>
              <a:rPr lang="en-US" dirty="0" err="1" smtClean="0"/>
              <a:t>kubectl</a:t>
            </a:r>
            <a:r>
              <a:rPr lang="en-US" dirty="0" smtClean="0"/>
              <a:t> apply -f </a:t>
            </a:r>
            <a:r>
              <a:rPr lang="en-US" dirty="0" err="1" smtClean="0"/>
              <a:t>filename.yaml</a:t>
            </a:r>
            <a:r>
              <a:rPr lang="en-US" dirty="0" smtClean="0"/>
              <a:t>, the </a:t>
            </a:r>
            <a:r>
              <a:rPr lang="en-US" dirty="0" err="1" smtClean="0"/>
              <a:t>Kubernetes</a:t>
            </a:r>
            <a:r>
              <a:rPr lang="en-US" dirty="0" smtClean="0"/>
              <a:t> control plane schedules the application's pods onto worker nodes. The nodes then automatically pull the specified image from </a:t>
            </a:r>
            <a:r>
              <a:rPr lang="en-US" dirty="0" err="1" smtClean="0"/>
              <a:t>Docker</a:t>
            </a:r>
            <a:r>
              <a:rPr lang="en-US" dirty="0" smtClean="0"/>
              <a:t> Hub (or another configured registry) to start the containers.</a:t>
            </a:r>
          </a:p>
          <a:p>
            <a:pPr marL="171450" indent="-171450">
              <a:buFont typeface="Arial" panose="020B0604020202020204" pitchFamily="34" charset="0"/>
              <a:buChar char="•"/>
            </a:pPr>
            <a:r>
              <a:rPr lang="en-US" b="1" dirty="0" smtClean="0"/>
              <a:t>Runtime Management: </a:t>
            </a:r>
            <a:r>
              <a:rPr lang="en-US" dirty="0" smtClean="0"/>
              <a:t>Once the images are pulled and containers are running, </a:t>
            </a:r>
            <a:r>
              <a:rPr lang="en-US" dirty="0" err="1" smtClean="0"/>
              <a:t>Kubernetes</a:t>
            </a:r>
            <a:r>
              <a:rPr lang="en-US" dirty="0" smtClean="0"/>
              <a:t> takes over management tasks such as:</a:t>
            </a:r>
          </a:p>
          <a:p>
            <a:pPr marL="628650" lvl="1" indent="-171450">
              <a:buFont typeface="Arial" panose="020B0604020202020204" pitchFamily="34" charset="0"/>
              <a:buChar char="•"/>
            </a:pPr>
            <a:r>
              <a:rPr lang="en-US" b="1" dirty="0" smtClean="0"/>
              <a:t>Scaling: </a:t>
            </a:r>
            <a:r>
              <a:rPr lang="en-US" dirty="0" smtClean="0"/>
              <a:t>Ensuring the correct number of container instances (pods) are running based on demand.</a:t>
            </a:r>
          </a:p>
          <a:p>
            <a:pPr marL="628650" lvl="1" indent="-171450">
              <a:buFont typeface="Arial" panose="020B0604020202020204" pitchFamily="34" charset="0"/>
              <a:buChar char="•"/>
            </a:pPr>
            <a:r>
              <a:rPr lang="en-US" b="1" dirty="0" smtClean="0"/>
              <a:t>Self-healing: </a:t>
            </a:r>
            <a:r>
              <a:rPr lang="en-US" dirty="0" smtClean="0"/>
              <a:t>Automatically restarting containers that fail or go down.</a:t>
            </a:r>
          </a:p>
          <a:p>
            <a:pPr marL="628650" lvl="1" indent="-171450">
              <a:buFont typeface="Arial" panose="020B0604020202020204" pitchFamily="34" charset="0"/>
              <a:buChar char="•"/>
            </a:pPr>
            <a:r>
              <a:rPr lang="en-US" b="1" dirty="0" smtClean="0"/>
              <a:t>Load Balancing: </a:t>
            </a:r>
            <a:r>
              <a:rPr lang="en-US" dirty="0" smtClean="0"/>
              <a:t>Distributing incoming traffic among healthy running containers. </a:t>
            </a:r>
            <a:endParaRPr lang="en-US" dirty="0"/>
          </a:p>
        </p:txBody>
      </p:sp>
      <p:sp>
        <p:nvSpPr>
          <p:cNvPr id="4" name="Slide Number Placeholder 3"/>
          <p:cNvSpPr>
            <a:spLocks noGrp="1"/>
          </p:cNvSpPr>
          <p:nvPr>
            <p:ph type="sldNum" sz="quarter" idx="10"/>
          </p:nvPr>
        </p:nvSpPr>
        <p:spPr/>
        <p:txBody>
          <a:bodyPr/>
          <a:lstStyle/>
          <a:p>
            <a:fld id="{1E6958E2-2B4A-4C25-BF05-A265C473CB9D}" type="slidenum">
              <a:rPr lang="en-US" smtClean="0"/>
              <a:t>10</a:t>
            </a:fld>
            <a:endParaRPr lang="en-US"/>
          </a:p>
        </p:txBody>
      </p:sp>
    </p:spTree>
    <p:extLst>
      <p:ext uri="{BB962C8B-B14F-4D97-AF65-F5344CB8AC3E}">
        <p14:creationId xmlns:p14="http://schemas.microsoft.com/office/powerpoint/2010/main" val="2324863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Argo CD is an open-source, declarative </a:t>
            </a:r>
            <a:r>
              <a:rPr lang="en-US" b="1" dirty="0" smtClean="0">
                <a:effectLst/>
              </a:rPr>
              <a:t>Continuous Delivery (CD) tool for </a:t>
            </a:r>
            <a:r>
              <a:rPr lang="en-US" b="1" dirty="0" err="1" smtClean="0">
                <a:effectLst/>
              </a:rPr>
              <a:t>Kubernetes</a:t>
            </a:r>
            <a:r>
              <a:rPr lang="en-US" dirty="0" smtClean="0"/>
              <a:t> that implements the principles of </a:t>
            </a:r>
            <a:r>
              <a:rPr lang="en-US" b="1" dirty="0" err="1" smtClean="0">
                <a:effectLst/>
              </a:rPr>
              <a:t>GitOps</a:t>
            </a:r>
            <a:r>
              <a:rPr lang="en-US" sz="1200" b="0" i="0" kern="1200" dirty="0" smtClean="0">
                <a:solidFill>
                  <a:schemeClr val="tx1"/>
                </a:solidFill>
                <a:effectLst/>
                <a:latin typeface="+mn-lt"/>
                <a:ea typeface="+mn-ea"/>
                <a:cs typeface="+mn-cs"/>
              </a:rPr>
              <a:t>. It automates the deployment and lifecycle management of applications by using a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repository as the single source of truth for the desired application state. </a:t>
            </a:r>
          </a:p>
          <a:p>
            <a:r>
              <a:rPr lang="en-US" sz="1200" b="1" i="0" kern="1200" dirty="0" err="1" smtClean="0">
                <a:solidFill>
                  <a:schemeClr val="tx1"/>
                </a:solidFill>
                <a:effectLst/>
                <a:latin typeface="+mn-lt"/>
                <a:ea typeface="+mn-ea"/>
                <a:cs typeface="+mn-cs"/>
              </a:rPr>
              <a:t>Kubernetes</a:t>
            </a:r>
            <a:r>
              <a:rPr lang="en-US" sz="1200" b="0" i="0" kern="1200" dirty="0" smtClean="0">
                <a:solidFill>
                  <a:schemeClr val="tx1"/>
                </a:solidFill>
                <a:effectLst/>
                <a:latin typeface="+mn-lt"/>
                <a:ea typeface="+mn-ea"/>
                <a:cs typeface="+mn-cs"/>
              </a:rPr>
              <a:t> itself is the orchestration system that automates the deployment, scaling, and management of those images as containers across a cluster. </a:t>
            </a:r>
            <a:r>
              <a:rPr lang="en-US" dirty="0" smtClean="0"/>
              <a:t>Once the images are pulled and containers are running, </a:t>
            </a:r>
            <a:r>
              <a:rPr lang="en-US" dirty="0" err="1" smtClean="0"/>
              <a:t>Kubernetes</a:t>
            </a:r>
            <a:r>
              <a:rPr lang="en-US" dirty="0" smtClean="0"/>
              <a:t> takes over management tasks such as:</a:t>
            </a:r>
          </a:p>
          <a:p>
            <a:pPr marL="628650" lvl="1" indent="-171450">
              <a:buFont typeface="Arial" panose="020B0604020202020204" pitchFamily="34" charset="0"/>
              <a:buChar char="•"/>
            </a:pPr>
            <a:r>
              <a:rPr lang="en-US" b="1" dirty="0" smtClean="0"/>
              <a:t>Scaling</a:t>
            </a:r>
            <a:r>
              <a:rPr lang="en-US" dirty="0" smtClean="0"/>
              <a:t>: Ensuring the correct number of container instances (pods) are running based on demand.</a:t>
            </a:r>
          </a:p>
          <a:p>
            <a:pPr marL="628650" lvl="1" indent="-171450">
              <a:buFont typeface="Arial" panose="020B0604020202020204" pitchFamily="34" charset="0"/>
              <a:buChar char="•"/>
            </a:pPr>
            <a:r>
              <a:rPr lang="en-US" b="1" dirty="0" smtClean="0"/>
              <a:t>Self-healing</a:t>
            </a:r>
            <a:r>
              <a:rPr lang="en-US" dirty="0" smtClean="0"/>
              <a:t>: Automatically restarting containers that fail or go down.</a:t>
            </a:r>
          </a:p>
          <a:p>
            <a:pPr marL="628650" lvl="1" indent="-171450">
              <a:buFont typeface="Arial" panose="020B0604020202020204" pitchFamily="34" charset="0"/>
              <a:buChar char="•"/>
            </a:pPr>
            <a:r>
              <a:rPr lang="en-US" b="1" dirty="0" smtClean="0"/>
              <a:t>Load Balancing</a:t>
            </a:r>
            <a:r>
              <a:rPr lang="en-US" dirty="0" smtClean="0"/>
              <a:t>: Distributing incoming traffic among healthy running containers. </a:t>
            </a:r>
          </a:p>
          <a:p>
            <a:endParaRPr lang="en-US" dirty="0"/>
          </a:p>
        </p:txBody>
      </p:sp>
      <p:sp>
        <p:nvSpPr>
          <p:cNvPr id="4" name="Slide Number Placeholder 3"/>
          <p:cNvSpPr>
            <a:spLocks noGrp="1"/>
          </p:cNvSpPr>
          <p:nvPr>
            <p:ph type="sldNum" sz="quarter" idx="10"/>
          </p:nvPr>
        </p:nvSpPr>
        <p:spPr/>
        <p:txBody>
          <a:bodyPr/>
          <a:lstStyle/>
          <a:p>
            <a:fld id="{1E6958E2-2B4A-4C25-BF05-A265C473CB9D}" type="slidenum">
              <a:rPr lang="en-US" smtClean="0"/>
              <a:t>11</a:t>
            </a:fld>
            <a:endParaRPr lang="en-US"/>
          </a:p>
        </p:txBody>
      </p:sp>
    </p:spTree>
    <p:extLst>
      <p:ext uri="{BB962C8B-B14F-4D97-AF65-F5344CB8AC3E}">
        <p14:creationId xmlns:p14="http://schemas.microsoft.com/office/powerpoint/2010/main" val="423445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31-Jan-26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31-Jan-26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31-Jan-26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31-Jan-26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31-Jan-26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31-Jan-26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31-Jan-26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31-Jan-26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31-Jan-26</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C1FF6DA9-008F-8B48-92A6-B652298478BF}" type="slidenum">
              <a:rPr lang="en-US" smtClean="0"/>
              <a:t>‹#›</a:t>
            </a:fld>
            <a:endParaRPr lang="en-US"/>
          </a:p>
        </p:txBody>
      </p:sp>
    </p:spTree>
    <p:extLst>
      <p:ext uri="{BB962C8B-B14F-4D97-AF65-F5344CB8AC3E}">
        <p14:creationId xmlns:p14="http://schemas.microsoft.com/office/powerpoint/2010/main" val="342198028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advClick="0">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31-Jan-26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0649488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advClick="0">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smtClean="0"/>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5BCAD085-E8A6-8845-BD4E-CB4CCA059FC4}" type="datetimeFigureOut">
              <a:rPr lang="en-US" smtClean="0"/>
              <a:t>31-Jan-26</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52127820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advClick="0">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9126313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advClick="0">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31-Jan-26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509697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advClick="0">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5BCAD085-E8A6-8845-BD4E-CB4CCA059FC4}" type="datetimeFigureOut">
              <a:rPr lang="en-US" smtClean="0"/>
              <a:t>31-Jan-26</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9159040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advClick="0">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31-Jan-26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024786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advClick="0">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smtClean="0"/>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5BCAD085-E8A6-8845-BD4E-CB4CCA059FC4}" type="datetimeFigureOut">
              <a:rPr lang="en-US" smtClean="0"/>
              <a:t>31-Jan-26</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228269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advClick="0">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5BCAD085-E8A6-8845-BD4E-CB4CCA059FC4}" type="datetimeFigureOut">
              <a:rPr lang="en-US" smtClean="0"/>
              <a:t>31-Jan-26</a:t>
            </a:fld>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6285561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advClick="0">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31-Jan-26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613655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advClick="0">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31-Jan-26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416293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advClick="0">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31-Jan-26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5BCAD085-E8A6-8845-BD4E-CB4CCA059FC4}" type="datetimeFigureOut">
              <a:rPr lang="en-US" smtClean="0"/>
              <a:t>31-Jan-26</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9244865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slow">
        <p14:reveal/>
      </p:transition>
    </mc:Choice>
    <mc:Fallback xmlns="">
      <p:transition spd="slow" advClick="0">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19438"/>
          </a:xfrm>
        </p:spPr>
        <p:txBody>
          <a:bodyPr>
            <a:noAutofit/>
          </a:bodyPr>
          <a:lstStyle/>
          <a:p>
            <a:r>
              <a:rPr b="1" dirty="0"/>
              <a:t>End-to-End </a:t>
            </a:r>
            <a:r>
              <a:rPr b="1" dirty="0" err="1"/>
              <a:t>DevOps</a:t>
            </a:r>
            <a:r>
              <a:rPr b="1" dirty="0"/>
              <a:t> Pipeline on Azure using </a:t>
            </a:r>
            <a:r>
              <a:rPr b="1" dirty="0" err="1" smtClean="0"/>
              <a:t>GitOps</a:t>
            </a:r>
            <a:endParaRPr b="1" dirty="0"/>
          </a:p>
        </p:txBody>
      </p:sp>
      <p:pic>
        <p:nvPicPr>
          <p:cNvPr id="1026" name="Picture 2" descr="Walure Capital | Our Courses"/>
          <p:cNvPicPr>
            <a:picLocks noChangeAspect="1" noChangeArrowheads="1"/>
          </p:cNvPicPr>
          <p:nvPr/>
        </p:nvPicPr>
        <p:blipFill>
          <a:blip r:embed="rId2">
            <a:lum bright="70000" contrast="-70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1056195" y="3055129"/>
            <a:ext cx="7031609" cy="1725125"/>
          </a:xfrm>
          <a:prstGeom prst="rect">
            <a:avLst/>
          </a:prstGeom>
          <a:noFill/>
          <a:ln>
            <a:solidFill>
              <a:schemeClr val="bg1"/>
            </a:solidFill>
          </a:ln>
          <a:effectLst>
            <a:reflection stA="70000" endPos="93000" dist="50800" dir="5400000" sy="-100000" algn="bl" rotWithShape="0"/>
          </a:effectLst>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57200" y="2164466"/>
            <a:ext cx="8229600" cy="3961697"/>
          </a:xfrm>
        </p:spPr>
        <p:txBody>
          <a:bodyPr>
            <a:normAutofit/>
          </a:bodyPr>
          <a:lstStyle/>
          <a:p>
            <a:pPr marL="0" indent="0" algn="ctr">
              <a:buNone/>
            </a:pPr>
            <a:r>
              <a:rPr i="1" dirty="0" smtClean="0">
                <a:solidFill>
                  <a:schemeClr val="accent3">
                    <a:lumMod val="75000"/>
                  </a:schemeClr>
                </a:solidFill>
              </a:rPr>
              <a:t>Terraform • </a:t>
            </a:r>
            <a:r>
              <a:rPr i="1" dirty="0" err="1" smtClean="0">
                <a:solidFill>
                  <a:schemeClr val="accent3">
                    <a:lumMod val="75000"/>
                  </a:schemeClr>
                </a:solidFill>
              </a:rPr>
              <a:t>GitHub</a:t>
            </a:r>
            <a:r>
              <a:rPr i="1" dirty="0" smtClean="0">
                <a:solidFill>
                  <a:schemeClr val="accent3">
                    <a:lumMod val="75000"/>
                  </a:schemeClr>
                </a:solidFill>
              </a:rPr>
              <a:t> Actions </a:t>
            </a:r>
            <a:r>
              <a:rPr lang="en-US" i="1" dirty="0" smtClean="0">
                <a:solidFill>
                  <a:schemeClr val="accent3">
                    <a:lumMod val="75000"/>
                  </a:schemeClr>
                </a:solidFill>
              </a:rPr>
              <a:t>• </a:t>
            </a:r>
            <a:r>
              <a:rPr lang="en-US" i="1" dirty="0" err="1" smtClean="0">
                <a:solidFill>
                  <a:schemeClr val="accent3">
                    <a:lumMod val="75000"/>
                  </a:schemeClr>
                </a:solidFill>
              </a:rPr>
              <a:t>DockerHub</a:t>
            </a:r>
            <a:r>
              <a:rPr lang="en-US" i="1" dirty="0" smtClean="0">
                <a:solidFill>
                  <a:schemeClr val="accent3">
                    <a:lumMod val="75000"/>
                  </a:schemeClr>
                </a:solidFill>
              </a:rPr>
              <a:t>/ACR •</a:t>
            </a:r>
            <a:r>
              <a:rPr lang="en-US" i="1" dirty="0">
                <a:solidFill>
                  <a:schemeClr val="accent3">
                    <a:lumMod val="75000"/>
                  </a:schemeClr>
                </a:solidFill>
              </a:rPr>
              <a:t> </a:t>
            </a:r>
            <a:r>
              <a:rPr i="1" dirty="0" smtClean="0">
                <a:solidFill>
                  <a:schemeClr val="accent3">
                    <a:lumMod val="75000"/>
                  </a:schemeClr>
                </a:solidFill>
              </a:rPr>
              <a:t>AKS • </a:t>
            </a:r>
            <a:r>
              <a:rPr i="1" dirty="0" err="1" smtClean="0">
                <a:solidFill>
                  <a:schemeClr val="accent3">
                    <a:lumMod val="75000"/>
                  </a:schemeClr>
                </a:solidFill>
              </a:rPr>
              <a:t>ArgoCD</a:t>
            </a:r>
            <a:r>
              <a:rPr i="1" dirty="0" smtClean="0">
                <a:solidFill>
                  <a:schemeClr val="accent3">
                    <a:lumMod val="75000"/>
                  </a:schemeClr>
                </a:solidFill>
              </a:rPr>
              <a:t> • Prometheus • </a:t>
            </a:r>
            <a:r>
              <a:rPr i="1" dirty="0" err="1" smtClean="0">
                <a:solidFill>
                  <a:schemeClr val="accent3">
                    <a:lumMod val="75000"/>
                  </a:schemeClr>
                </a:solidFill>
              </a:rPr>
              <a:t>Grafana</a:t>
            </a:r>
            <a:endParaRPr lang="en-US" dirty="0">
              <a:solidFill>
                <a:schemeClr val="accent3">
                  <a:lumMod val="75000"/>
                </a:schemeClr>
              </a:solidFill>
            </a:endParaRPr>
          </a:p>
          <a:p>
            <a:pPr marL="0" indent="0" algn="ctr">
              <a:buNone/>
            </a:pPr>
            <a:endParaRPr lang="en-US" dirty="0"/>
          </a:p>
          <a:p>
            <a:pPr marL="0" indent="0" algn="ctr">
              <a:buNone/>
            </a:pPr>
            <a:endParaRPr lang="en-US" dirty="0" smtClean="0"/>
          </a:p>
          <a:p>
            <a:pPr marL="0" indent="0" algn="ctr">
              <a:buNone/>
            </a:pPr>
            <a:endParaRPr lang="en-US" dirty="0" smtClean="0"/>
          </a:p>
          <a:p>
            <a:pPr marL="0" indent="0" algn="ctr">
              <a:buNone/>
            </a:pPr>
            <a:r>
              <a:rPr lang="en-US" dirty="0" smtClean="0"/>
              <a:t> at </a:t>
            </a:r>
            <a:r>
              <a:rPr lang="en-US" b="1" dirty="0" smtClean="0"/>
              <a:t>WALURE ACADEMY</a:t>
            </a:r>
            <a:endParaRPr lang="en-US" dirty="0" smtClean="0"/>
          </a:p>
          <a:p>
            <a:pPr marL="0" indent="0" algn="ctr">
              <a:buNone/>
            </a:pPr>
            <a:r>
              <a:rPr dirty="0" smtClean="0"/>
              <a:t>by:</a:t>
            </a:r>
            <a:r>
              <a:rPr lang="en-US" dirty="0"/>
              <a:t> </a:t>
            </a:r>
            <a:r>
              <a:rPr lang="en-US" sz="4800" b="1" dirty="0" smtClean="0"/>
              <a:t>AJIBADE </a:t>
            </a:r>
            <a:r>
              <a:rPr lang="en-US" sz="4800" b="1" dirty="0" smtClean="0"/>
              <a:t>APATA</a:t>
            </a:r>
            <a:endParaRPr lang="en-US" sz="4800" b="1" dirty="0"/>
          </a:p>
        </p:txBody>
      </p:sp>
      <p:pic>
        <p:nvPicPr>
          <p:cNvPr id="1030" name="Picture 6" descr="Walure Capita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2486" y="5854700"/>
            <a:ext cx="1307893" cy="11748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505" y="278296"/>
            <a:ext cx="8279296" cy="1139342"/>
          </a:xfrm>
        </p:spPr>
        <p:txBody>
          <a:bodyPr>
            <a:normAutofit/>
          </a:bodyPr>
          <a:lstStyle/>
          <a:p>
            <a:r>
              <a:rPr lang="en-US" sz="5200" b="1" dirty="0" smtClean="0">
                <a:solidFill>
                  <a:schemeClr val="tx2">
                    <a:lumMod val="75000"/>
                  </a:schemeClr>
                </a:solidFill>
                <a:latin typeface="Arial" panose="020B0604020202020204" pitchFamily="34" charset="0"/>
                <a:cs typeface="Arial" panose="020B0604020202020204" pitchFamily="34" charset="0"/>
              </a:rPr>
              <a:t>Project Objective</a:t>
            </a:r>
            <a:endParaRPr lang="en-US" sz="5200" b="1" dirty="0">
              <a:solidFill>
                <a:schemeClr val="tx2">
                  <a:lumMod val="75000"/>
                </a:schemeClr>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600200"/>
            <a:ext cx="8229600" cy="4525963"/>
          </a:xfrm>
        </p:spPr>
        <p:txBody>
          <a:bodyPr/>
          <a:lstStyle/>
          <a:p>
            <a:r>
              <a:rPr dirty="0" smtClean="0">
                <a:latin typeface="Times New Roman" panose="02020603050405020304" pitchFamily="18" charset="0"/>
                <a:cs typeface="Times New Roman" panose="02020603050405020304" pitchFamily="18" charset="0"/>
              </a:rPr>
              <a:t>Build </a:t>
            </a:r>
            <a:r>
              <a:rPr dirty="0">
                <a:latin typeface="Times New Roman" panose="02020603050405020304" pitchFamily="18" charset="0"/>
                <a:cs typeface="Times New Roman" panose="02020603050405020304" pitchFamily="18" charset="0"/>
              </a:rPr>
              <a:t>and deploy a .NET application </a:t>
            </a:r>
            <a:r>
              <a:rPr dirty="0" smtClean="0">
                <a:latin typeface="Times New Roman" panose="02020603050405020304" pitchFamily="18" charset="0"/>
                <a:cs typeface="Times New Roman" panose="02020603050405020304" pitchFamily="18" charset="0"/>
              </a:rPr>
              <a:t>using</a:t>
            </a:r>
            <a:r>
              <a:rPr lang="en-US" dirty="0">
                <a:latin typeface="Times New Roman" panose="02020603050405020304" pitchFamily="18" charset="0"/>
                <a:cs typeface="Times New Roman" panose="02020603050405020304" pitchFamily="18" charset="0"/>
              </a:rPr>
              <a:t> </a:t>
            </a:r>
            <a:r>
              <a:rPr dirty="0" err="1" smtClean="0">
                <a:latin typeface="Times New Roman" panose="02020603050405020304" pitchFamily="18" charset="0"/>
                <a:cs typeface="Times New Roman" panose="02020603050405020304" pitchFamily="18" charset="0"/>
              </a:rPr>
              <a:t>DevOps</a:t>
            </a:r>
            <a:r>
              <a:rPr dirty="0" smtClean="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best practices</a:t>
            </a:r>
          </a:p>
          <a:p>
            <a:r>
              <a:rPr dirty="0" smtClean="0">
                <a:latin typeface="Times New Roman" panose="02020603050405020304" pitchFamily="18" charset="0"/>
                <a:cs typeface="Times New Roman" panose="02020603050405020304" pitchFamily="18" charset="0"/>
              </a:rPr>
              <a:t>Automate </a:t>
            </a:r>
            <a:r>
              <a:rPr dirty="0">
                <a:latin typeface="Times New Roman" panose="02020603050405020304" pitchFamily="18" charset="0"/>
                <a:cs typeface="Times New Roman" panose="02020603050405020304" pitchFamily="18" charset="0"/>
              </a:rPr>
              <a:t>infrastructure provisioning</a:t>
            </a:r>
          </a:p>
          <a:p>
            <a:r>
              <a:rPr dirty="0" smtClean="0">
                <a:latin typeface="Times New Roman" panose="02020603050405020304" pitchFamily="18" charset="0"/>
                <a:cs typeface="Times New Roman" panose="02020603050405020304" pitchFamily="18" charset="0"/>
              </a:rPr>
              <a:t>Implement </a:t>
            </a:r>
            <a:r>
              <a:rPr dirty="0">
                <a:latin typeface="Times New Roman" panose="02020603050405020304" pitchFamily="18" charset="0"/>
                <a:cs typeface="Times New Roman" panose="02020603050405020304" pitchFamily="18" charset="0"/>
              </a:rPr>
              <a:t>CI/CD with </a:t>
            </a:r>
            <a:r>
              <a:rPr dirty="0" err="1">
                <a:latin typeface="Times New Roman" panose="02020603050405020304" pitchFamily="18" charset="0"/>
                <a:cs typeface="Times New Roman" panose="02020603050405020304" pitchFamily="18" charset="0"/>
              </a:rPr>
              <a:t>GitOps</a:t>
            </a:r>
            <a:endParaRPr dirty="0">
              <a:latin typeface="Times New Roman" panose="02020603050405020304" pitchFamily="18" charset="0"/>
              <a:cs typeface="Times New Roman" panose="02020603050405020304" pitchFamily="18" charset="0"/>
            </a:endParaRPr>
          </a:p>
          <a:p>
            <a:r>
              <a:rPr dirty="0" smtClean="0">
                <a:latin typeface="Times New Roman" panose="02020603050405020304" pitchFamily="18" charset="0"/>
                <a:cs typeface="Times New Roman" panose="02020603050405020304" pitchFamily="18" charset="0"/>
              </a:rPr>
              <a:t>Add </a:t>
            </a:r>
            <a:r>
              <a:rPr dirty="0">
                <a:latin typeface="Times New Roman" panose="02020603050405020304" pitchFamily="18" charset="0"/>
                <a:cs typeface="Times New Roman" panose="02020603050405020304" pitchFamily="18" charset="0"/>
              </a:rPr>
              <a:t>monitoring and </a:t>
            </a:r>
            <a:r>
              <a:rPr dirty="0" err="1" smtClean="0">
                <a:latin typeface="Times New Roman" panose="02020603050405020304" pitchFamily="18" charset="0"/>
                <a:cs typeface="Times New Roman" panose="02020603050405020304" pitchFamily="18" charset="0"/>
              </a:rPr>
              <a:t>observability</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This follows a real world cloud-native workflow and production-ready </a:t>
            </a:r>
            <a:r>
              <a:rPr lang="en-US" dirty="0" err="1" smtClean="0">
                <a:latin typeface="Times New Roman" panose="02020603050405020304" pitchFamily="18" charset="0"/>
                <a:cs typeface="Times New Roman" panose="02020603050405020304" pitchFamily="18" charset="0"/>
              </a:rPr>
              <a:t>DevOps</a:t>
            </a:r>
            <a:r>
              <a:rPr lang="en-US" dirty="0" smtClean="0">
                <a:latin typeface="Times New Roman" panose="02020603050405020304" pitchFamily="18" charset="0"/>
                <a:cs typeface="Times New Roman" panose="02020603050405020304" pitchFamily="18" charset="0"/>
              </a:rPr>
              <a:t> architecture</a:t>
            </a: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411359"/>
            <a:ext cx="9144000" cy="5237922"/>
          </a:xfrm>
        </p:spPr>
      </p:pic>
      <p:sp>
        <p:nvSpPr>
          <p:cNvPr id="5" name="Title 1"/>
          <p:cNvSpPr>
            <a:spLocks noGrp="1"/>
          </p:cNvSpPr>
          <p:nvPr>
            <p:ph type="title"/>
          </p:nvPr>
        </p:nvSpPr>
        <p:spPr>
          <a:xfrm>
            <a:off x="407505" y="278296"/>
            <a:ext cx="8279296" cy="1139342"/>
          </a:xfrm>
        </p:spPr>
        <p:txBody>
          <a:bodyPr>
            <a:normAutofit/>
          </a:bodyPr>
          <a:lstStyle/>
          <a:p>
            <a:r>
              <a:rPr lang="en-US" sz="5200" b="1" dirty="0" smtClean="0">
                <a:solidFill>
                  <a:schemeClr val="tx2">
                    <a:lumMod val="75000"/>
                  </a:schemeClr>
                </a:solidFill>
                <a:latin typeface="Arial" panose="020B0604020202020204" pitchFamily="34" charset="0"/>
                <a:cs typeface="Arial" panose="020B0604020202020204" pitchFamily="34" charset="0"/>
              </a:rPr>
              <a:t>Project Architecture</a:t>
            </a:r>
            <a:endParaRPr lang="en-US" sz="5200" b="1" dirty="0">
              <a:solidFill>
                <a:schemeClr val="tx2">
                  <a:lumMod val="75000"/>
                </a:schemeClr>
              </a:solidFill>
              <a:latin typeface="Arial" panose="020B0604020202020204" pitchFamily="34" charset="0"/>
              <a:cs typeface="Arial" panose="020B0604020202020204" pitchFamily="34" charset="0"/>
            </a:endParaRPr>
          </a:p>
        </p:txBody>
      </p:sp>
      <p:sp>
        <p:nvSpPr>
          <p:cNvPr id="4" name="Rectangle 3"/>
          <p:cNvSpPr/>
          <p:nvPr/>
        </p:nvSpPr>
        <p:spPr>
          <a:xfrm>
            <a:off x="254643" y="5787342"/>
            <a:ext cx="1551008" cy="567159"/>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n>
                <a:solidFill>
                  <a:schemeClr val="bg1"/>
                </a:solidFill>
              </a:ln>
              <a:solidFill>
                <a:schemeClr val="bg1"/>
              </a:solidFill>
            </a:endParaRPr>
          </a:p>
        </p:txBody>
      </p:sp>
    </p:spTree>
    <p:extLst>
      <p:ext uri="{BB962C8B-B14F-4D97-AF65-F5344CB8AC3E}">
        <p14:creationId xmlns:p14="http://schemas.microsoft.com/office/powerpoint/2010/main" val="2618205657"/>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2919"/>
            <a:ext cx="8229600" cy="1164719"/>
          </a:xfrm>
        </p:spPr>
        <p:txBody>
          <a:bodyPr>
            <a:normAutofit/>
          </a:bodyPr>
          <a:lstStyle/>
          <a:p>
            <a:r>
              <a:rPr lang="en-US" sz="2400" b="1" dirty="0">
                <a:solidFill>
                  <a:schemeClr val="tx2">
                    <a:lumMod val="75000"/>
                  </a:schemeClr>
                </a:solidFill>
                <a:latin typeface="Arial" panose="020B0604020202020204" pitchFamily="34" charset="0"/>
                <a:cs typeface="Arial" panose="020B0604020202020204" pitchFamily="34" charset="0"/>
              </a:rPr>
              <a:t>ARCHITECTURE DIAGRAM (END-TO-END)</a:t>
            </a:r>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625334" y="1417638"/>
            <a:ext cx="2348564" cy="789272"/>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accent3">
                    <a:lumMod val="75000"/>
                  </a:schemeClr>
                </a:solidFill>
              </a:rPr>
              <a:t>Developer</a:t>
            </a:r>
          </a:p>
          <a:p>
            <a:pPr algn="ctr"/>
            <a:r>
              <a:rPr lang="en-US" dirty="0" smtClean="0">
                <a:solidFill>
                  <a:schemeClr val="tx2">
                    <a:lumMod val="75000"/>
                  </a:schemeClr>
                </a:solidFill>
              </a:rPr>
              <a:t>(</a:t>
            </a:r>
            <a:r>
              <a:rPr lang="en-US" dirty="0" err="1" smtClean="0">
                <a:solidFill>
                  <a:schemeClr val="tx2">
                    <a:lumMod val="75000"/>
                  </a:schemeClr>
                </a:solidFill>
              </a:rPr>
              <a:t>Git</a:t>
            </a:r>
            <a:r>
              <a:rPr lang="en-US" dirty="0" smtClean="0">
                <a:solidFill>
                  <a:schemeClr val="tx2">
                    <a:lumMod val="75000"/>
                  </a:schemeClr>
                </a:solidFill>
              </a:rPr>
              <a:t> </a:t>
            </a:r>
            <a:r>
              <a:rPr lang="en-US" dirty="0">
                <a:solidFill>
                  <a:schemeClr val="tx2">
                    <a:lumMod val="75000"/>
                  </a:schemeClr>
                </a:solidFill>
              </a:rPr>
              <a:t>Push to </a:t>
            </a:r>
            <a:r>
              <a:rPr lang="en-US" dirty="0" err="1" smtClean="0">
                <a:solidFill>
                  <a:schemeClr val="tx2">
                    <a:lumMod val="75000"/>
                  </a:schemeClr>
                </a:solidFill>
              </a:rPr>
              <a:t>GitHub</a:t>
            </a:r>
            <a:r>
              <a:rPr lang="en-US" dirty="0" smtClean="0">
                <a:solidFill>
                  <a:schemeClr val="tx2">
                    <a:lumMod val="75000"/>
                  </a:schemeClr>
                </a:solidFill>
              </a:rPr>
              <a:t>)</a:t>
            </a:r>
            <a:endParaRPr lang="en-US" dirty="0">
              <a:solidFill>
                <a:schemeClr val="tx2">
                  <a:lumMod val="75000"/>
                </a:schemeClr>
              </a:solidFill>
            </a:endParaRPr>
          </a:p>
        </p:txBody>
      </p:sp>
      <p:sp>
        <p:nvSpPr>
          <p:cNvPr id="5" name="Rectangle 4"/>
          <p:cNvSpPr/>
          <p:nvPr/>
        </p:nvSpPr>
        <p:spPr>
          <a:xfrm>
            <a:off x="457199" y="2515936"/>
            <a:ext cx="2684834" cy="1598112"/>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accent3">
                    <a:lumMod val="75000"/>
                  </a:schemeClr>
                </a:solidFill>
              </a:rPr>
              <a:t> </a:t>
            </a:r>
            <a:r>
              <a:rPr lang="en-US" dirty="0" err="1">
                <a:solidFill>
                  <a:schemeClr val="accent3">
                    <a:lumMod val="75000"/>
                  </a:schemeClr>
                </a:solidFill>
              </a:rPr>
              <a:t>GitHub</a:t>
            </a:r>
            <a:r>
              <a:rPr lang="en-US" dirty="0">
                <a:solidFill>
                  <a:schemeClr val="accent3">
                    <a:lumMod val="75000"/>
                  </a:schemeClr>
                </a:solidFill>
              </a:rPr>
              <a:t> </a:t>
            </a:r>
            <a:r>
              <a:rPr lang="en-US" dirty="0" smtClean="0">
                <a:solidFill>
                  <a:schemeClr val="accent3">
                    <a:lumMod val="75000"/>
                  </a:schemeClr>
                </a:solidFill>
              </a:rPr>
              <a:t>Repo</a:t>
            </a:r>
          </a:p>
          <a:p>
            <a:pPr marL="285750" indent="-285750">
              <a:buFont typeface="Arial" panose="020B0604020202020204" pitchFamily="34" charset="0"/>
              <a:buChar char="•"/>
            </a:pPr>
            <a:r>
              <a:rPr lang="en-US" dirty="0" smtClean="0">
                <a:solidFill>
                  <a:schemeClr val="tx2">
                    <a:lumMod val="75000"/>
                  </a:schemeClr>
                </a:solidFill>
              </a:rPr>
              <a:t>.NET </a:t>
            </a:r>
            <a:r>
              <a:rPr lang="en-US" dirty="0">
                <a:solidFill>
                  <a:schemeClr val="tx2">
                    <a:lumMod val="75000"/>
                  </a:schemeClr>
                </a:solidFill>
              </a:rPr>
              <a:t>Source </a:t>
            </a:r>
            <a:r>
              <a:rPr lang="en-US" dirty="0" smtClean="0">
                <a:solidFill>
                  <a:schemeClr val="tx2">
                    <a:lumMod val="75000"/>
                  </a:schemeClr>
                </a:solidFill>
              </a:rPr>
              <a:t>Code</a:t>
            </a:r>
          </a:p>
          <a:p>
            <a:pPr marL="285750" indent="-285750">
              <a:buFont typeface="Arial" panose="020B0604020202020204" pitchFamily="34" charset="0"/>
              <a:buChar char="•"/>
            </a:pPr>
            <a:r>
              <a:rPr lang="en-US" dirty="0" err="1" smtClean="0">
                <a:solidFill>
                  <a:schemeClr val="tx2">
                    <a:lumMod val="75000"/>
                  </a:schemeClr>
                </a:solidFill>
              </a:rPr>
              <a:t>Dockerfile</a:t>
            </a:r>
            <a:endParaRPr lang="en-US" dirty="0">
              <a:solidFill>
                <a:schemeClr val="tx2">
                  <a:lumMod val="75000"/>
                </a:schemeClr>
              </a:solidFill>
            </a:endParaRPr>
          </a:p>
          <a:p>
            <a:pPr marL="285750" indent="-285750">
              <a:buFont typeface="Arial" panose="020B0604020202020204" pitchFamily="34" charset="0"/>
              <a:buChar char="•"/>
            </a:pPr>
            <a:r>
              <a:rPr lang="en-US" dirty="0" err="1" smtClean="0">
                <a:solidFill>
                  <a:schemeClr val="tx2">
                    <a:lumMod val="75000"/>
                  </a:schemeClr>
                </a:solidFill>
              </a:rPr>
              <a:t>Kubernetes</a:t>
            </a:r>
            <a:r>
              <a:rPr lang="en-US" dirty="0" smtClean="0">
                <a:solidFill>
                  <a:schemeClr val="tx2">
                    <a:lumMod val="75000"/>
                  </a:schemeClr>
                </a:solidFill>
              </a:rPr>
              <a:t> Manifests</a:t>
            </a:r>
          </a:p>
          <a:p>
            <a:pPr marL="285750" indent="-285750">
              <a:buFont typeface="Arial" panose="020B0604020202020204" pitchFamily="34" charset="0"/>
              <a:buChar char="•"/>
            </a:pPr>
            <a:r>
              <a:rPr lang="en-US" dirty="0" smtClean="0">
                <a:solidFill>
                  <a:schemeClr val="tx2">
                    <a:lumMod val="75000"/>
                  </a:schemeClr>
                </a:solidFill>
              </a:rPr>
              <a:t>Terraform </a:t>
            </a:r>
            <a:r>
              <a:rPr lang="en-US" dirty="0" err="1">
                <a:solidFill>
                  <a:schemeClr val="tx2">
                    <a:lumMod val="75000"/>
                  </a:schemeClr>
                </a:solidFill>
              </a:rPr>
              <a:t>IaC</a:t>
            </a:r>
            <a:endParaRPr lang="en-US" dirty="0">
              <a:solidFill>
                <a:schemeClr val="tx2">
                  <a:lumMod val="75000"/>
                </a:schemeClr>
              </a:solidFill>
            </a:endParaRPr>
          </a:p>
        </p:txBody>
      </p:sp>
      <p:sp>
        <p:nvSpPr>
          <p:cNvPr id="6" name="Rectangle 5"/>
          <p:cNvSpPr/>
          <p:nvPr/>
        </p:nvSpPr>
        <p:spPr>
          <a:xfrm>
            <a:off x="457200" y="4413465"/>
            <a:ext cx="2684836" cy="1598112"/>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solidFill>
                  <a:schemeClr val="accent3">
                    <a:lumMod val="75000"/>
                  </a:schemeClr>
                </a:solidFill>
              </a:rPr>
              <a:t>GitHub</a:t>
            </a:r>
            <a:r>
              <a:rPr lang="en-US" dirty="0" smtClean="0">
                <a:solidFill>
                  <a:schemeClr val="accent3">
                    <a:lumMod val="75000"/>
                  </a:schemeClr>
                </a:solidFill>
              </a:rPr>
              <a:t> </a:t>
            </a:r>
            <a:r>
              <a:rPr lang="en-US" dirty="0">
                <a:solidFill>
                  <a:schemeClr val="accent3">
                    <a:lumMod val="75000"/>
                  </a:schemeClr>
                </a:solidFill>
              </a:rPr>
              <a:t>Actions (</a:t>
            </a:r>
            <a:r>
              <a:rPr lang="en-US" dirty="0" smtClean="0">
                <a:solidFill>
                  <a:schemeClr val="accent3">
                    <a:lumMod val="75000"/>
                  </a:schemeClr>
                </a:solidFill>
              </a:rPr>
              <a:t>CI)</a:t>
            </a:r>
          </a:p>
          <a:p>
            <a:pPr marL="285750" indent="-285750">
              <a:buFont typeface="Arial" panose="020B0604020202020204" pitchFamily="34" charset="0"/>
              <a:buChar char="•"/>
            </a:pPr>
            <a:r>
              <a:rPr lang="en-US" dirty="0" smtClean="0">
                <a:solidFill>
                  <a:schemeClr val="tx2">
                    <a:lumMod val="75000"/>
                  </a:schemeClr>
                </a:solidFill>
              </a:rPr>
              <a:t>Build </a:t>
            </a:r>
            <a:r>
              <a:rPr lang="en-US" dirty="0">
                <a:solidFill>
                  <a:schemeClr val="tx2">
                    <a:lumMod val="75000"/>
                  </a:schemeClr>
                </a:solidFill>
              </a:rPr>
              <a:t>.NET </a:t>
            </a:r>
            <a:r>
              <a:rPr lang="en-US" dirty="0" smtClean="0">
                <a:solidFill>
                  <a:schemeClr val="tx2">
                    <a:lumMod val="75000"/>
                  </a:schemeClr>
                </a:solidFill>
              </a:rPr>
              <a:t>App</a:t>
            </a:r>
          </a:p>
          <a:p>
            <a:pPr marL="285750" indent="-285750">
              <a:buFont typeface="Arial" panose="020B0604020202020204" pitchFamily="34" charset="0"/>
              <a:buChar char="•"/>
            </a:pPr>
            <a:r>
              <a:rPr lang="en-US" dirty="0" smtClean="0">
                <a:solidFill>
                  <a:schemeClr val="tx2">
                    <a:lumMod val="75000"/>
                  </a:schemeClr>
                </a:solidFill>
              </a:rPr>
              <a:t>Build </a:t>
            </a:r>
            <a:r>
              <a:rPr lang="en-US" dirty="0" err="1">
                <a:solidFill>
                  <a:schemeClr val="tx2">
                    <a:lumMod val="75000"/>
                  </a:schemeClr>
                </a:solidFill>
              </a:rPr>
              <a:t>Docker</a:t>
            </a:r>
            <a:r>
              <a:rPr lang="en-US" dirty="0">
                <a:solidFill>
                  <a:schemeClr val="tx2">
                    <a:lumMod val="75000"/>
                  </a:schemeClr>
                </a:solidFill>
              </a:rPr>
              <a:t> </a:t>
            </a:r>
            <a:r>
              <a:rPr lang="en-US" dirty="0" smtClean="0">
                <a:solidFill>
                  <a:schemeClr val="tx2">
                    <a:lumMod val="75000"/>
                  </a:schemeClr>
                </a:solidFill>
              </a:rPr>
              <a:t>Image</a:t>
            </a:r>
          </a:p>
          <a:p>
            <a:pPr marL="285750" indent="-285750">
              <a:buFont typeface="Arial" panose="020B0604020202020204" pitchFamily="34" charset="0"/>
              <a:buChar char="•"/>
            </a:pPr>
            <a:r>
              <a:rPr lang="en-US" dirty="0" smtClean="0">
                <a:solidFill>
                  <a:schemeClr val="tx2">
                    <a:lumMod val="75000"/>
                  </a:schemeClr>
                </a:solidFill>
              </a:rPr>
              <a:t>Push </a:t>
            </a:r>
            <a:r>
              <a:rPr lang="en-US" dirty="0">
                <a:solidFill>
                  <a:schemeClr val="tx2">
                    <a:lumMod val="75000"/>
                  </a:schemeClr>
                </a:solidFill>
              </a:rPr>
              <a:t>Image to </a:t>
            </a:r>
            <a:r>
              <a:rPr lang="en-US" dirty="0" smtClean="0">
                <a:solidFill>
                  <a:schemeClr val="tx2">
                    <a:lumMod val="75000"/>
                  </a:schemeClr>
                </a:solidFill>
              </a:rPr>
              <a:t>ACR</a:t>
            </a:r>
            <a:endParaRPr lang="en-US" dirty="0">
              <a:solidFill>
                <a:schemeClr val="tx2">
                  <a:lumMod val="75000"/>
                </a:schemeClr>
              </a:solidFill>
            </a:endParaRPr>
          </a:p>
        </p:txBody>
      </p:sp>
      <p:sp>
        <p:nvSpPr>
          <p:cNvPr id="8" name="Rectangle 7"/>
          <p:cNvSpPr/>
          <p:nvPr/>
        </p:nvSpPr>
        <p:spPr>
          <a:xfrm>
            <a:off x="4390963" y="1417638"/>
            <a:ext cx="3455470" cy="971834"/>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accent3">
                    <a:lumMod val="75000"/>
                  </a:schemeClr>
                </a:solidFill>
              </a:rPr>
              <a:t>Azure Container </a:t>
            </a:r>
            <a:r>
              <a:rPr lang="en-US" dirty="0" smtClean="0">
                <a:solidFill>
                  <a:schemeClr val="accent3">
                    <a:lumMod val="75000"/>
                  </a:schemeClr>
                </a:solidFill>
              </a:rPr>
              <a:t>Registry</a:t>
            </a:r>
          </a:p>
          <a:p>
            <a:pPr algn="ctr"/>
            <a:r>
              <a:rPr lang="en-US" dirty="0" smtClean="0">
                <a:solidFill>
                  <a:schemeClr val="accent3">
                    <a:lumMod val="75000"/>
                  </a:schemeClr>
                </a:solidFill>
              </a:rPr>
              <a:t>(ACR)/</a:t>
            </a:r>
            <a:r>
              <a:rPr lang="en-US" dirty="0" err="1" smtClean="0">
                <a:solidFill>
                  <a:schemeClr val="accent3">
                    <a:lumMod val="75000"/>
                  </a:schemeClr>
                </a:solidFill>
              </a:rPr>
              <a:t>DockerHub</a:t>
            </a:r>
            <a:r>
              <a:rPr lang="en-US" dirty="0" smtClean="0">
                <a:solidFill>
                  <a:schemeClr val="accent3">
                    <a:lumMod val="75000"/>
                  </a:schemeClr>
                </a:solidFill>
              </a:rPr>
              <a:t>    </a:t>
            </a:r>
          </a:p>
          <a:p>
            <a:pPr marL="285750" indent="-285750">
              <a:buFont typeface="Arial" panose="020B0604020202020204" pitchFamily="34" charset="0"/>
              <a:buChar char="•"/>
            </a:pPr>
            <a:r>
              <a:rPr lang="en-US" dirty="0" smtClean="0">
                <a:solidFill>
                  <a:schemeClr val="tx2">
                    <a:lumMod val="75000"/>
                  </a:schemeClr>
                </a:solidFill>
              </a:rPr>
              <a:t>Stores </a:t>
            </a:r>
            <a:r>
              <a:rPr lang="en-US" dirty="0" err="1">
                <a:solidFill>
                  <a:schemeClr val="tx2">
                    <a:lumMod val="75000"/>
                  </a:schemeClr>
                </a:solidFill>
              </a:rPr>
              <a:t>Docker</a:t>
            </a:r>
            <a:r>
              <a:rPr lang="en-US" dirty="0">
                <a:solidFill>
                  <a:schemeClr val="tx2">
                    <a:lumMod val="75000"/>
                  </a:schemeClr>
                </a:solidFill>
              </a:rPr>
              <a:t> Images</a:t>
            </a:r>
          </a:p>
        </p:txBody>
      </p:sp>
      <p:sp>
        <p:nvSpPr>
          <p:cNvPr id="9" name="Rectangle 8"/>
          <p:cNvSpPr/>
          <p:nvPr/>
        </p:nvSpPr>
        <p:spPr>
          <a:xfrm>
            <a:off x="3381385" y="2631362"/>
            <a:ext cx="5313145" cy="442762"/>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accent3">
                    <a:lumMod val="75000"/>
                  </a:schemeClr>
                </a:solidFill>
              </a:rPr>
              <a:t>Azure </a:t>
            </a:r>
            <a:r>
              <a:rPr lang="en-US" dirty="0" err="1">
                <a:solidFill>
                  <a:schemeClr val="accent3">
                    <a:lumMod val="75000"/>
                  </a:schemeClr>
                </a:solidFill>
              </a:rPr>
              <a:t>Kubernetes</a:t>
            </a:r>
            <a:r>
              <a:rPr lang="en-US" dirty="0">
                <a:solidFill>
                  <a:schemeClr val="accent3">
                    <a:lumMod val="75000"/>
                  </a:schemeClr>
                </a:solidFill>
              </a:rPr>
              <a:t> Service (AKS</a:t>
            </a:r>
            <a:r>
              <a:rPr lang="en-US" dirty="0" smtClean="0">
                <a:solidFill>
                  <a:schemeClr val="accent3">
                    <a:lumMod val="75000"/>
                  </a:schemeClr>
                </a:solidFill>
              </a:rPr>
              <a:t>)</a:t>
            </a:r>
            <a:endParaRPr lang="en-US" dirty="0">
              <a:solidFill>
                <a:schemeClr val="accent3">
                  <a:lumMod val="75000"/>
                </a:schemeClr>
              </a:solidFill>
            </a:endParaRPr>
          </a:p>
        </p:txBody>
      </p:sp>
      <p:sp>
        <p:nvSpPr>
          <p:cNvPr id="11" name="Rectangle 10"/>
          <p:cNvSpPr/>
          <p:nvPr/>
        </p:nvSpPr>
        <p:spPr>
          <a:xfrm>
            <a:off x="4508923" y="3074124"/>
            <a:ext cx="3058068" cy="1332381"/>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accent3">
                    <a:lumMod val="75000"/>
                  </a:schemeClr>
                </a:solidFill>
              </a:rPr>
              <a:t>Argo CD (</a:t>
            </a:r>
            <a:r>
              <a:rPr lang="en-US" dirty="0" err="1">
                <a:solidFill>
                  <a:schemeClr val="accent3">
                    <a:lumMod val="75000"/>
                  </a:schemeClr>
                </a:solidFill>
              </a:rPr>
              <a:t>GitOps</a:t>
            </a:r>
            <a:r>
              <a:rPr lang="en-US" dirty="0">
                <a:solidFill>
                  <a:schemeClr val="accent3">
                    <a:lumMod val="75000"/>
                  </a:schemeClr>
                </a:solidFill>
              </a:rPr>
              <a:t> </a:t>
            </a:r>
            <a:r>
              <a:rPr lang="en-US" dirty="0" smtClean="0">
                <a:solidFill>
                  <a:schemeClr val="accent3">
                    <a:lumMod val="75000"/>
                  </a:schemeClr>
                </a:solidFill>
              </a:rPr>
              <a:t>CD)</a:t>
            </a:r>
          </a:p>
          <a:p>
            <a:pPr marL="285750" indent="-285750">
              <a:buFont typeface="Arial" panose="020B0604020202020204" pitchFamily="34" charset="0"/>
              <a:buChar char="•"/>
            </a:pPr>
            <a:r>
              <a:rPr lang="en-US" dirty="0" smtClean="0">
                <a:solidFill>
                  <a:schemeClr val="tx2">
                    <a:lumMod val="75000"/>
                  </a:schemeClr>
                </a:solidFill>
              </a:rPr>
              <a:t>Watches </a:t>
            </a:r>
            <a:r>
              <a:rPr lang="en-US" dirty="0" err="1">
                <a:solidFill>
                  <a:schemeClr val="tx2">
                    <a:lumMod val="75000"/>
                  </a:schemeClr>
                </a:solidFill>
              </a:rPr>
              <a:t>GitHub</a:t>
            </a:r>
            <a:r>
              <a:rPr lang="en-US" dirty="0">
                <a:solidFill>
                  <a:schemeClr val="tx2">
                    <a:lumMod val="75000"/>
                  </a:schemeClr>
                </a:solidFill>
              </a:rPr>
              <a:t> </a:t>
            </a:r>
            <a:r>
              <a:rPr lang="en-US" dirty="0" smtClean="0">
                <a:solidFill>
                  <a:schemeClr val="tx2">
                    <a:lumMod val="75000"/>
                  </a:schemeClr>
                </a:solidFill>
              </a:rPr>
              <a:t>Manifests</a:t>
            </a:r>
          </a:p>
          <a:p>
            <a:pPr marL="285750" indent="-285750">
              <a:buFont typeface="Arial" panose="020B0604020202020204" pitchFamily="34" charset="0"/>
              <a:buChar char="•"/>
            </a:pPr>
            <a:r>
              <a:rPr lang="en-US" dirty="0" smtClean="0">
                <a:solidFill>
                  <a:schemeClr val="tx2">
                    <a:lumMod val="75000"/>
                  </a:schemeClr>
                </a:solidFill>
              </a:rPr>
              <a:t>Syncs </a:t>
            </a:r>
            <a:r>
              <a:rPr lang="en-US" dirty="0">
                <a:solidFill>
                  <a:schemeClr val="tx2">
                    <a:lumMod val="75000"/>
                  </a:schemeClr>
                </a:solidFill>
              </a:rPr>
              <a:t>Desired </a:t>
            </a:r>
            <a:r>
              <a:rPr lang="en-US" dirty="0" smtClean="0">
                <a:solidFill>
                  <a:schemeClr val="tx2">
                    <a:lumMod val="75000"/>
                  </a:schemeClr>
                </a:solidFill>
              </a:rPr>
              <a:t>State</a:t>
            </a:r>
          </a:p>
          <a:p>
            <a:pPr marL="285750" indent="-285750">
              <a:buFont typeface="Arial" panose="020B0604020202020204" pitchFamily="34" charset="0"/>
              <a:buChar char="•"/>
            </a:pPr>
            <a:r>
              <a:rPr lang="en-US" dirty="0" smtClean="0">
                <a:solidFill>
                  <a:schemeClr val="tx2">
                    <a:lumMod val="75000"/>
                  </a:schemeClr>
                </a:solidFill>
              </a:rPr>
              <a:t>Self-healing </a:t>
            </a:r>
            <a:endParaRPr lang="en-US" dirty="0">
              <a:solidFill>
                <a:schemeClr val="tx2">
                  <a:lumMod val="75000"/>
                </a:schemeClr>
              </a:solidFill>
            </a:endParaRPr>
          </a:p>
        </p:txBody>
      </p:sp>
      <p:sp>
        <p:nvSpPr>
          <p:cNvPr id="12" name="Rectangle 11"/>
          <p:cNvSpPr/>
          <p:nvPr/>
        </p:nvSpPr>
        <p:spPr>
          <a:xfrm>
            <a:off x="4508924" y="4406505"/>
            <a:ext cx="3058068" cy="1044572"/>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solidFill>
                  <a:schemeClr val="accent3">
                    <a:lumMod val="75000"/>
                  </a:schemeClr>
                </a:solidFill>
              </a:rPr>
              <a:t>AjibadeApi</a:t>
            </a:r>
            <a:r>
              <a:rPr lang="en-US" dirty="0" smtClean="0">
                <a:solidFill>
                  <a:schemeClr val="accent3">
                    <a:lumMod val="75000"/>
                  </a:schemeClr>
                </a:solidFill>
              </a:rPr>
              <a:t> </a:t>
            </a:r>
            <a:r>
              <a:rPr lang="en-US" dirty="0">
                <a:solidFill>
                  <a:schemeClr val="accent3">
                    <a:lumMod val="75000"/>
                  </a:schemeClr>
                </a:solidFill>
              </a:rPr>
              <a:t>(.NET App </a:t>
            </a:r>
            <a:r>
              <a:rPr lang="en-US" dirty="0" smtClean="0">
                <a:solidFill>
                  <a:schemeClr val="accent3">
                    <a:lumMod val="75000"/>
                  </a:schemeClr>
                </a:solidFill>
              </a:rPr>
              <a:t>Pods)</a:t>
            </a:r>
          </a:p>
          <a:p>
            <a:pPr marL="285750" indent="-285750">
              <a:buFont typeface="Arial" panose="020B0604020202020204" pitchFamily="34" charset="0"/>
              <a:buChar char="•"/>
            </a:pPr>
            <a:r>
              <a:rPr lang="en-US" dirty="0" smtClean="0">
                <a:solidFill>
                  <a:schemeClr val="tx2">
                    <a:lumMod val="75000"/>
                  </a:schemeClr>
                </a:solidFill>
              </a:rPr>
              <a:t>Image </a:t>
            </a:r>
            <a:r>
              <a:rPr lang="en-US" dirty="0">
                <a:solidFill>
                  <a:schemeClr val="tx2">
                    <a:lumMod val="75000"/>
                  </a:schemeClr>
                </a:solidFill>
              </a:rPr>
              <a:t>pulled from </a:t>
            </a:r>
            <a:r>
              <a:rPr lang="en-US" dirty="0" smtClean="0">
                <a:solidFill>
                  <a:schemeClr val="tx2">
                    <a:lumMod val="75000"/>
                  </a:schemeClr>
                </a:solidFill>
              </a:rPr>
              <a:t>ACR</a:t>
            </a:r>
          </a:p>
          <a:p>
            <a:pPr marL="285750" indent="-285750">
              <a:buFont typeface="Arial" panose="020B0604020202020204" pitchFamily="34" charset="0"/>
              <a:buChar char="•"/>
            </a:pPr>
            <a:r>
              <a:rPr lang="en-US" dirty="0" smtClean="0">
                <a:solidFill>
                  <a:schemeClr val="tx2">
                    <a:lumMod val="75000"/>
                  </a:schemeClr>
                </a:solidFill>
              </a:rPr>
              <a:t>Health </a:t>
            </a:r>
            <a:r>
              <a:rPr lang="en-US" dirty="0">
                <a:solidFill>
                  <a:schemeClr val="tx2">
                    <a:lumMod val="75000"/>
                  </a:schemeClr>
                </a:solidFill>
              </a:rPr>
              <a:t>+ Metrics endpoints </a:t>
            </a:r>
          </a:p>
        </p:txBody>
      </p:sp>
      <p:sp>
        <p:nvSpPr>
          <p:cNvPr id="13" name="Rectangle 12"/>
          <p:cNvSpPr/>
          <p:nvPr/>
        </p:nvSpPr>
        <p:spPr>
          <a:xfrm>
            <a:off x="4508924" y="5451077"/>
            <a:ext cx="3058067" cy="1146559"/>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accent3">
                    <a:lumMod val="75000"/>
                  </a:schemeClr>
                </a:solidFill>
              </a:rPr>
              <a:t>Prometheus  →  </a:t>
            </a:r>
            <a:r>
              <a:rPr lang="en-US" dirty="0" err="1" smtClean="0">
                <a:solidFill>
                  <a:schemeClr val="accent3">
                    <a:lumMod val="75000"/>
                  </a:schemeClr>
                </a:solidFill>
              </a:rPr>
              <a:t>Grafana</a:t>
            </a:r>
            <a:endParaRPr lang="en-US" dirty="0">
              <a:solidFill>
                <a:schemeClr val="accent3">
                  <a:lumMod val="75000"/>
                </a:schemeClr>
              </a:solidFill>
            </a:endParaRPr>
          </a:p>
          <a:p>
            <a:pPr marL="285750" indent="-285750">
              <a:buFont typeface="Arial" panose="020B0604020202020204" pitchFamily="34" charset="0"/>
              <a:buChar char="•"/>
            </a:pPr>
            <a:r>
              <a:rPr lang="en-US" dirty="0" smtClean="0">
                <a:solidFill>
                  <a:schemeClr val="tx2">
                    <a:lumMod val="75000"/>
                  </a:schemeClr>
                </a:solidFill>
              </a:rPr>
              <a:t>Metrics Collection</a:t>
            </a:r>
          </a:p>
          <a:p>
            <a:pPr marL="285750" indent="-285750">
              <a:buFont typeface="Arial" panose="020B0604020202020204" pitchFamily="34" charset="0"/>
              <a:buChar char="•"/>
            </a:pPr>
            <a:r>
              <a:rPr lang="en-US" dirty="0" smtClean="0">
                <a:solidFill>
                  <a:schemeClr val="tx2">
                    <a:lumMod val="75000"/>
                  </a:schemeClr>
                </a:solidFill>
              </a:rPr>
              <a:t>Dashboards </a:t>
            </a:r>
            <a:r>
              <a:rPr lang="en-US" dirty="0">
                <a:solidFill>
                  <a:schemeClr val="tx2">
                    <a:lumMod val="75000"/>
                  </a:schemeClr>
                </a:solidFill>
              </a:rPr>
              <a:t>&amp; Monitoring </a:t>
            </a:r>
          </a:p>
        </p:txBody>
      </p:sp>
      <p:sp>
        <p:nvSpPr>
          <p:cNvPr id="14" name="Down Arrow 13"/>
          <p:cNvSpPr/>
          <p:nvPr/>
        </p:nvSpPr>
        <p:spPr>
          <a:xfrm>
            <a:off x="1634247" y="2226366"/>
            <a:ext cx="165369" cy="270233"/>
          </a:xfrm>
          <a:prstGeom prst="down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Down Arrow 14"/>
          <p:cNvSpPr/>
          <p:nvPr/>
        </p:nvSpPr>
        <p:spPr>
          <a:xfrm>
            <a:off x="1634247" y="4132309"/>
            <a:ext cx="165369" cy="270233"/>
          </a:xfrm>
          <a:prstGeom prst="down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Down Arrow 15"/>
          <p:cNvSpPr/>
          <p:nvPr/>
        </p:nvSpPr>
        <p:spPr>
          <a:xfrm>
            <a:off x="5749047" y="2404539"/>
            <a:ext cx="165369" cy="270233"/>
          </a:xfrm>
          <a:prstGeom prst="down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Down Arrow 16"/>
          <p:cNvSpPr/>
          <p:nvPr/>
        </p:nvSpPr>
        <p:spPr>
          <a:xfrm>
            <a:off x="1631005" y="6031033"/>
            <a:ext cx="165369" cy="270233"/>
          </a:xfrm>
          <a:prstGeom prst="down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3807743"/>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018" y="-97279"/>
            <a:ext cx="8258782" cy="1154990"/>
          </a:xfrm>
        </p:spPr>
        <p:txBody>
          <a:bodyPr/>
          <a:lstStyle/>
          <a:p>
            <a:r>
              <a:rPr b="1" dirty="0">
                <a:solidFill>
                  <a:schemeClr val="tx2">
                    <a:lumMod val="75000"/>
                  </a:schemeClr>
                </a:solidFill>
              </a:rPr>
              <a:t>Application Layer (.NET API)</a:t>
            </a:r>
          </a:p>
        </p:txBody>
      </p:sp>
      <p:sp>
        <p:nvSpPr>
          <p:cNvPr id="3" name="Content Placeholder 2"/>
          <p:cNvSpPr>
            <a:spLocks noGrp="1"/>
          </p:cNvSpPr>
          <p:nvPr>
            <p:ph idx="1"/>
          </p:nvPr>
        </p:nvSpPr>
        <p:spPr>
          <a:xfrm>
            <a:off x="457200" y="1600200"/>
            <a:ext cx="8229600" cy="4525963"/>
          </a:xfrm>
        </p:spPr>
        <p:txBody>
          <a:bodyPr>
            <a:normAutofit/>
          </a:bodyPr>
          <a:lstStyle/>
          <a:p>
            <a:r>
              <a:rPr sz="2000" dirty="0" smtClean="0">
                <a:latin typeface="Times New Roman" panose="02020603050405020304" pitchFamily="18" charset="0"/>
                <a:cs typeface="Times New Roman" panose="02020603050405020304" pitchFamily="18" charset="0"/>
              </a:rPr>
              <a:t>ASP.NET </a:t>
            </a:r>
            <a:r>
              <a:rPr sz="2000" dirty="0">
                <a:latin typeface="Times New Roman" panose="02020603050405020304" pitchFamily="18" charset="0"/>
                <a:cs typeface="Times New Roman" panose="02020603050405020304" pitchFamily="18" charset="0"/>
              </a:rPr>
              <a:t>Core Web API</a:t>
            </a:r>
          </a:p>
          <a:p>
            <a:r>
              <a:rPr sz="2000" dirty="0" err="1" smtClean="0">
                <a:latin typeface="Times New Roman" panose="02020603050405020304" pitchFamily="18" charset="0"/>
                <a:cs typeface="Times New Roman" panose="02020603050405020304" pitchFamily="18" charset="0"/>
              </a:rPr>
              <a:t>Dockerized</a:t>
            </a:r>
            <a:r>
              <a:rPr sz="2000" dirty="0" smtClean="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application</a:t>
            </a:r>
          </a:p>
          <a:p>
            <a:r>
              <a:rPr sz="2000" i="1" dirty="0" smtClean="0">
                <a:latin typeface="Times New Roman" panose="02020603050405020304" pitchFamily="18" charset="0"/>
                <a:cs typeface="Times New Roman" panose="02020603050405020304" pitchFamily="18" charset="0"/>
              </a:rPr>
              <a:t>/</a:t>
            </a:r>
            <a:r>
              <a:rPr sz="2000" i="1" dirty="0">
                <a:latin typeface="Times New Roman" panose="02020603050405020304" pitchFamily="18" charset="0"/>
                <a:cs typeface="Times New Roman" panose="02020603050405020304" pitchFamily="18" charset="0"/>
              </a:rPr>
              <a:t>health </a:t>
            </a:r>
            <a:r>
              <a:rPr lang="en-US" sz="2000" dirty="0" smtClean="0">
                <a:latin typeface="Times New Roman" panose="02020603050405020304" pitchFamily="18" charset="0"/>
                <a:cs typeface="Times New Roman" panose="02020603050405020304" pitchFamily="18" charset="0"/>
              </a:rPr>
              <a:t>endpoints for </a:t>
            </a:r>
            <a:r>
              <a:rPr lang="en-US" sz="2000" dirty="0" err="1">
                <a:latin typeface="Times New Roman" panose="02020603050405020304" pitchFamily="18" charset="0"/>
                <a:cs typeface="Times New Roman" panose="02020603050405020304" pitchFamily="18" charset="0"/>
              </a:rPr>
              <a:t>K</a:t>
            </a:r>
            <a:r>
              <a:rPr lang="en-US" sz="2000" dirty="0" err="1" smtClean="0">
                <a:latin typeface="Times New Roman" panose="02020603050405020304" pitchFamily="18" charset="0"/>
                <a:cs typeface="Times New Roman" panose="02020603050405020304" pitchFamily="18" charset="0"/>
              </a:rPr>
              <a:t>ubernetes</a:t>
            </a:r>
            <a:r>
              <a:rPr lang="en-US" sz="2000" dirty="0" smtClean="0">
                <a:latin typeface="Times New Roman" panose="02020603050405020304" pitchFamily="18" charset="0"/>
                <a:cs typeface="Times New Roman" panose="02020603050405020304" pitchFamily="18" charset="0"/>
              </a:rPr>
              <a:t> probes, </a:t>
            </a:r>
            <a:r>
              <a:rPr sz="2000" i="1" dirty="0" smtClean="0">
                <a:latin typeface="Times New Roman" panose="02020603050405020304" pitchFamily="18" charset="0"/>
                <a:cs typeface="Times New Roman" panose="02020603050405020304" pitchFamily="18" charset="0"/>
              </a:rPr>
              <a:t>/metrics </a:t>
            </a:r>
            <a:r>
              <a:rPr sz="2000" dirty="0" smtClean="0">
                <a:latin typeface="Times New Roman" panose="02020603050405020304" pitchFamily="18" charset="0"/>
                <a:cs typeface="Times New Roman" panose="02020603050405020304" pitchFamily="18" charset="0"/>
              </a:rPr>
              <a:t>endpoints</a:t>
            </a:r>
            <a:r>
              <a:rPr lang="en-US" sz="2000" dirty="0" smtClean="0">
                <a:latin typeface="Times New Roman" panose="02020603050405020304" pitchFamily="18" charset="0"/>
                <a:cs typeface="Times New Roman" panose="02020603050405020304" pitchFamily="18" charset="0"/>
              </a:rPr>
              <a:t> for </a:t>
            </a:r>
            <a:r>
              <a:rPr lang="en-US" sz="2000" dirty="0">
                <a:latin typeface="Times New Roman" panose="02020603050405020304" pitchFamily="18" charset="0"/>
                <a:cs typeface="Times New Roman" panose="02020603050405020304" pitchFamily="18" charset="0"/>
              </a:rPr>
              <a:t>P</a:t>
            </a:r>
            <a:r>
              <a:rPr lang="en-US" sz="2000" dirty="0" smtClean="0">
                <a:latin typeface="Times New Roman" panose="02020603050405020304" pitchFamily="18" charset="0"/>
                <a:cs typeface="Times New Roman" panose="02020603050405020304" pitchFamily="18" charset="0"/>
              </a:rPr>
              <a:t>rometheus</a:t>
            </a:r>
            <a:endParaRPr lang="en-US"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018" y="2811287"/>
            <a:ext cx="8354591" cy="38910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16765"/>
            <a:ext cx="9144000" cy="421633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068463"/>
            <a:ext cx="9144000" cy="140640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924064"/>
            <a:ext cx="9144000" cy="140640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468114"/>
            <a:ext cx="9144000" cy="1406402"/>
          </a:xfrm>
          <a:prstGeom prst="rect">
            <a:avLst/>
          </a:prstGeom>
        </p:spPr>
      </p:pic>
    </p:spTree>
    <p:extLst>
      <p:ext uri="{BB962C8B-B14F-4D97-AF65-F5344CB8AC3E}">
        <p14:creationId xmlns:p14="http://schemas.microsoft.com/office/powerpoint/2010/main" val="3252280746"/>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8562" y="291830"/>
            <a:ext cx="8278238" cy="1125808"/>
          </a:xfrm>
        </p:spPr>
        <p:txBody>
          <a:bodyPr>
            <a:normAutofit/>
          </a:bodyPr>
          <a:lstStyle/>
          <a:p>
            <a:r>
              <a:rPr sz="3600" b="1" dirty="0">
                <a:solidFill>
                  <a:schemeClr val="tx2">
                    <a:lumMod val="75000"/>
                  </a:schemeClr>
                </a:solidFill>
                <a:latin typeface="Arial" panose="020B0604020202020204" pitchFamily="34" charset="0"/>
                <a:cs typeface="Arial" panose="020B0604020202020204" pitchFamily="34" charset="0"/>
              </a:rPr>
              <a:t>Infrastructure as Code (Terraform)</a:t>
            </a:r>
          </a:p>
        </p:txBody>
      </p:sp>
      <p:sp>
        <p:nvSpPr>
          <p:cNvPr id="3" name="Content Placeholder 2"/>
          <p:cNvSpPr>
            <a:spLocks noGrp="1"/>
          </p:cNvSpPr>
          <p:nvPr>
            <p:ph idx="1"/>
          </p:nvPr>
        </p:nvSpPr>
        <p:spPr>
          <a:xfrm>
            <a:off x="457200" y="1600200"/>
            <a:ext cx="8229600" cy="4525963"/>
          </a:xfrm>
        </p:spPr>
        <p:txBody>
          <a:bodyPr/>
          <a:lstStyle/>
          <a:p>
            <a:r>
              <a:rPr lang="en-US" dirty="0" smtClean="0">
                <a:latin typeface="Times New Roman" panose="02020603050405020304" pitchFamily="18" charset="0"/>
                <a:cs typeface="Times New Roman" panose="02020603050405020304" pitchFamily="18" charset="0"/>
              </a:rPr>
              <a:t>Creates </a:t>
            </a:r>
            <a:r>
              <a:rPr dirty="0" smtClean="0">
                <a:latin typeface="Times New Roman" panose="02020603050405020304" pitchFamily="18" charset="0"/>
                <a:cs typeface="Times New Roman" panose="02020603050405020304" pitchFamily="18" charset="0"/>
              </a:rPr>
              <a:t>Azure </a:t>
            </a:r>
            <a:r>
              <a:rPr dirty="0">
                <a:latin typeface="Times New Roman" panose="02020603050405020304" pitchFamily="18" charset="0"/>
                <a:cs typeface="Times New Roman" panose="02020603050405020304" pitchFamily="18" charset="0"/>
              </a:rPr>
              <a:t>Resource Group</a:t>
            </a:r>
          </a:p>
          <a:p>
            <a:r>
              <a:rPr lang="en-US" dirty="0" smtClean="0">
                <a:latin typeface="Times New Roman" panose="02020603050405020304" pitchFamily="18" charset="0"/>
                <a:cs typeface="Times New Roman" panose="02020603050405020304" pitchFamily="18" charset="0"/>
              </a:rPr>
              <a:t>Provision </a:t>
            </a:r>
            <a:r>
              <a:rPr dirty="0" smtClean="0">
                <a:latin typeface="Times New Roman" panose="02020603050405020304" pitchFamily="18" charset="0"/>
                <a:cs typeface="Times New Roman" panose="02020603050405020304" pitchFamily="18" charset="0"/>
              </a:rPr>
              <a:t>Azure </a:t>
            </a:r>
            <a:r>
              <a:rPr dirty="0" err="1">
                <a:latin typeface="Times New Roman" panose="02020603050405020304" pitchFamily="18" charset="0"/>
                <a:cs typeface="Times New Roman" panose="02020603050405020304" pitchFamily="18" charset="0"/>
              </a:rPr>
              <a:t>Kubernetes</a:t>
            </a:r>
            <a:r>
              <a:rPr dirty="0">
                <a:latin typeface="Times New Roman" panose="02020603050405020304" pitchFamily="18" charset="0"/>
                <a:cs typeface="Times New Roman" panose="02020603050405020304" pitchFamily="18" charset="0"/>
              </a:rPr>
              <a:t> Service (AKS)</a:t>
            </a:r>
          </a:p>
          <a:p>
            <a:r>
              <a:rPr lang="en-US" dirty="0" smtClean="0">
                <a:latin typeface="Times New Roman" panose="02020603050405020304" pitchFamily="18" charset="0"/>
                <a:cs typeface="Times New Roman" panose="02020603050405020304" pitchFamily="18" charset="0"/>
              </a:rPr>
              <a:t>Creates </a:t>
            </a:r>
            <a:r>
              <a:rPr dirty="0" smtClean="0">
                <a:latin typeface="Times New Roman" panose="02020603050405020304" pitchFamily="18" charset="0"/>
                <a:cs typeface="Times New Roman" panose="02020603050405020304" pitchFamily="18" charset="0"/>
              </a:rPr>
              <a:t>Azure </a:t>
            </a:r>
            <a:r>
              <a:rPr dirty="0">
                <a:latin typeface="Times New Roman" panose="02020603050405020304" pitchFamily="18" charset="0"/>
                <a:cs typeface="Times New Roman" panose="02020603050405020304" pitchFamily="18" charset="0"/>
              </a:rPr>
              <a:t>Container Registry (ACR)</a:t>
            </a:r>
          </a:p>
          <a:p>
            <a:r>
              <a:rPr lang="en-US" dirty="0" smtClean="0">
                <a:latin typeface="Times New Roman" panose="02020603050405020304" pitchFamily="18" charset="0"/>
                <a:cs typeface="Times New Roman" panose="02020603050405020304" pitchFamily="18" charset="0"/>
              </a:rPr>
              <a:t>Assigns permission for AKS to pull images from ACR</a:t>
            </a:r>
          </a:p>
          <a:p>
            <a:endParaRPr lang="en-US"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It has a repeatable infrastructure, version-controlled with no manual cloud setup</a:t>
            </a:r>
            <a:endParaRPr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787" y="4431745"/>
            <a:ext cx="8278238" cy="2162477"/>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9651" y="-359922"/>
            <a:ext cx="9747115" cy="7422204"/>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pic>
    </p:spTree>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88"/>
            <a:ext cx="8229600" cy="1143000"/>
          </a:xfrm>
        </p:spPr>
        <p:txBody>
          <a:bodyPr/>
          <a:lstStyle/>
          <a:p>
            <a:r>
              <a:rPr b="1" dirty="0" smtClean="0">
                <a:solidFill>
                  <a:schemeClr val="tx2">
                    <a:lumMod val="75000"/>
                  </a:schemeClr>
                </a:solidFill>
                <a:latin typeface="Arial" panose="020B0604020202020204" pitchFamily="34" charset="0"/>
                <a:cs typeface="Arial" panose="020B0604020202020204" pitchFamily="34" charset="0"/>
              </a:rPr>
              <a:t>CI: </a:t>
            </a:r>
            <a:r>
              <a:rPr b="1" dirty="0" err="1" smtClean="0">
                <a:solidFill>
                  <a:schemeClr val="tx2">
                    <a:lumMod val="75000"/>
                  </a:schemeClr>
                </a:solidFill>
                <a:latin typeface="Arial" panose="020B0604020202020204" pitchFamily="34" charset="0"/>
                <a:cs typeface="Arial" panose="020B0604020202020204" pitchFamily="34" charset="0"/>
              </a:rPr>
              <a:t>GitHub</a:t>
            </a:r>
            <a:r>
              <a:rPr b="1" dirty="0" smtClean="0">
                <a:solidFill>
                  <a:schemeClr val="tx2">
                    <a:lumMod val="75000"/>
                  </a:schemeClr>
                </a:solidFill>
                <a:latin typeface="Arial" panose="020B0604020202020204" pitchFamily="34" charset="0"/>
                <a:cs typeface="Arial" panose="020B0604020202020204" pitchFamily="34" charset="0"/>
              </a:rPr>
              <a:t> Actions</a:t>
            </a:r>
            <a:endParaRPr b="1" dirty="0">
              <a:solidFill>
                <a:schemeClr val="tx2">
                  <a:lumMod val="75000"/>
                </a:schemeClr>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40871" y="4430490"/>
            <a:ext cx="8262258" cy="2697164"/>
          </a:xfrm>
        </p:spPr>
        <p:txBody>
          <a:bodyPr>
            <a:normAutofit/>
          </a:bodyPr>
          <a:lstStyle/>
          <a:p>
            <a:r>
              <a:rPr sz="2000" dirty="0" smtClean="0">
                <a:latin typeface="Times New Roman" panose="02020603050405020304" pitchFamily="18" charset="0"/>
                <a:cs typeface="Times New Roman" panose="02020603050405020304" pitchFamily="18" charset="0"/>
              </a:rPr>
              <a:t>Triggered </a:t>
            </a:r>
            <a:r>
              <a:rPr sz="2000" dirty="0">
                <a:latin typeface="Times New Roman" panose="02020603050405020304" pitchFamily="18" charset="0"/>
                <a:cs typeface="Times New Roman" panose="02020603050405020304" pitchFamily="18" charset="0"/>
              </a:rPr>
              <a:t>on push to </a:t>
            </a:r>
            <a:r>
              <a:rPr sz="2000" dirty="0" smtClean="0">
                <a:latin typeface="Times New Roman" panose="02020603050405020304" pitchFamily="18" charset="0"/>
                <a:cs typeface="Times New Roman" panose="02020603050405020304" pitchFamily="18" charset="0"/>
              </a:rPr>
              <a:t>main</a:t>
            </a:r>
            <a:endParaRPr lang="en-US" sz="2000" dirty="0" smtClean="0">
              <a:latin typeface="Times New Roman" panose="02020603050405020304" pitchFamily="18" charset="0"/>
              <a:cs typeface="Times New Roman" panose="02020603050405020304" pitchFamily="18" charset="0"/>
            </a:endParaRPr>
          </a:p>
          <a:p>
            <a:r>
              <a:rPr sz="2000" dirty="0" smtClean="0">
                <a:latin typeface="Times New Roman" panose="02020603050405020304" pitchFamily="18" charset="0"/>
                <a:cs typeface="Times New Roman" panose="02020603050405020304" pitchFamily="18" charset="0"/>
              </a:rPr>
              <a:t>Build </a:t>
            </a:r>
            <a:r>
              <a:rPr sz="2000" dirty="0">
                <a:latin typeface="Times New Roman" panose="02020603050405020304" pitchFamily="18" charset="0"/>
                <a:cs typeface="Times New Roman" panose="02020603050405020304" pitchFamily="18" charset="0"/>
              </a:rPr>
              <a:t>.NET </a:t>
            </a:r>
            <a:r>
              <a:rPr sz="2000" dirty="0" smtClean="0">
                <a:latin typeface="Times New Roman" panose="02020603050405020304" pitchFamily="18" charset="0"/>
                <a:cs typeface="Times New Roman" panose="02020603050405020304" pitchFamily="18" charset="0"/>
              </a:rPr>
              <a:t>app</a:t>
            </a:r>
            <a:r>
              <a:rPr lang="en-US" sz="2000" dirty="0" smtClean="0">
                <a:latin typeface="Times New Roman" panose="02020603050405020304" pitchFamily="18" charset="0"/>
                <a:cs typeface="Times New Roman" panose="02020603050405020304" pitchFamily="18" charset="0"/>
              </a:rPr>
              <a:t>lication</a:t>
            </a:r>
            <a:endParaRPr sz="2000" dirty="0">
              <a:latin typeface="Times New Roman" panose="02020603050405020304" pitchFamily="18" charset="0"/>
              <a:cs typeface="Times New Roman" panose="02020603050405020304" pitchFamily="18" charset="0"/>
            </a:endParaRPr>
          </a:p>
          <a:p>
            <a:r>
              <a:rPr sz="2000" dirty="0" smtClean="0">
                <a:latin typeface="Times New Roman" panose="02020603050405020304" pitchFamily="18" charset="0"/>
                <a:cs typeface="Times New Roman" panose="02020603050405020304" pitchFamily="18" charset="0"/>
              </a:rPr>
              <a:t>Build </a:t>
            </a:r>
            <a:r>
              <a:rPr sz="2000" dirty="0" err="1">
                <a:latin typeface="Times New Roman" panose="02020603050405020304" pitchFamily="18" charset="0"/>
                <a:cs typeface="Times New Roman" panose="02020603050405020304" pitchFamily="18" charset="0"/>
              </a:rPr>
              <a:t>Docker</a:t>
            </a:r>
            <a:r>
              <a:rPr sz="2000" dirty="0">
                <a:latin typeface="Times New Roman" panose="02020603050405020304" pitchFamily="18" charset="0"/>
                <a:cs typeface="Times New Roman" panose="02020603050405020304" pitchFamily="18" charset="0"/>
              </a:rPr>
              <a:t> image</a:t>
            </a:r>
          </a:p>
          <a:p>
            <a:r>
              <a:rPr sz="2000" dirty="0" smtClean="0">
                <a:latin typeface="Times New Roman" panose="02020603050405020304" pitchFamily="18" charset="0"/>
                <a:cs typeface="Times New Roman" panose="02020603050405020304" pitchFamily="18" charset="0"/>
              </a:rPr>
              <a:t>Push </a:t>
            </a:r>
            <a:r>
              <a:rPr sz="2000" dirty="0">
                <a:latin typeface="Times New Roman" panose="02020603050405020304" pitchFamily="18" charset="0"/>
                <a:cs typeface="Times New Roman" panose="02020603050405020304" pitchFamily="18" charset="0"/>
              </a:rPr>
              <a:t>image to </a:t>
            </a:r>
            <a:r>
              <a:rPr lang="en-US" sz="2000" dirty="0" smtClean="0">
                <a:latin typeface="Times New Roman" panose="02020603050405020304" pitchFamily="18" charset="0"/>
                <a:cs typeface="Times New Roman" panose="02020603050405020304" pitchFamily="18" charset="0"/>
              </a:rPr>
              <a:t>Azure Container Registry (</a:t>
            </a:r>
            <a:r>
              <a:rPr sz="2000" dirty="0" smtClean="0">
                <a:latin typeface="Times New Roman" panose="02020603050405020304" pitchFamily="18" charset="0"/>
                <a:cs typeface="Times New Roman" panose="02020603050405020304" pitchFamily="18" charset="0"/>
              </a:rPr>
              <a:t>ACR</a:t>
            </a:r>
            <a:r>
              <a:rPr lang="en-US" sz="2000" dirty="0" smtClean="0">
                <a:latin typeface="Times New Roman" panose="02020603050405020304" pitchFamily="18" charset="0"/>
                <a:cs typeface="Times New Roman" panose="02020603050405020304" pitchFamily="18" charset="0"/>
              </a:rPr>
              <a:t>)</a:t>
            </a:r>
          </a:p>
          <a:p>
            <a:pPr marL="0" indent="0" algn="just">
              <a:buNone/>
            </a:pPr>
            <a:r>
              <a:rPr lang="en-US" sz="2000" dirty="0" smtClean="0">
                <a:latin typeface="Times New Roman" panose="02020603050405020304" pitchFamily="18" charset="0"/>
                <a:cs typeface="Times New Roman" panose="02020603050405020304" pitchFamily="18" charset="0"/>
              </a:rPr>
              <a:t>Every code change produces a new container image automatically</a:t>
            </a:r>
            <a:endParaRPr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090100"/>
            <a:ext cx="8229600" cy="31879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654" y="282102"/>
            <a:ext cx="8210145" cy="1135536"/>
          </a:xfrm>
        </p:spPr>
        <p:txBody>
          <a:bodyPr>
            <a:normAutofit fontScale="90000"/>
          </a:bodyPr>
          <a:lstStyle/>
          <a:p>
            <a:r>
              <a:rPr lang="en-US" sz="3600" b="1" dirty="0" smtClean="0">
                <a:solidFill>
                  <a:schemeClr val="tx2">
                    <a:lumMod val="75000"/>
                  </a:schemeClr>
                </a:solidFill>
                <a:latin typeface="Arial" panose="020B0604020202020204" pitchFamily="34" charset="0"/>
                <a:cs typeface="Arial" panose="020B0604020202020204" pitchFamily="34" charset="0"/>
              </a:rPr>
              <a:t>Azure Container </a:t>
            </a:r>
            <a:r>
              <a:rPr lang="en-US" sz="3600" b="1" dirty="0">
                <a:solidFill>
                  <a:schemeClr val="tx2">
                    <a:lumMod val="75000"/>
                  </a:schemeClr>
                </a:solidFill>
                <a:latin typeface="Arial" panose="020B0604020202020204" pitchFamily="34" charset="0"/>
                <a:cs typeface="Arial" panose="020B0604020202020204" pitchFamily="34" charset="0"/>
              </a:rPr>
              <a:t>Registry (ACR</a:t>
            </a:r>
            <a:r>
              <a:rPr lang="en-US" sz="3600" b="1" dirty="0" smtClean="0">
                <a:solidFill>
                  <a:schemeClr val="tx2">
                    <a:lumMod val="75000"/>
                  </a:schemeClr>
                </a:solidFill>
                <a:latin typeface="Arial" panose="020B0604020202020204" pitchFamily="34" charset="0"/>
                <a:cs typeface="Arial" panose="020B0604020202020204" pitchFamily="34" charset="0"/>
              </a:rPr>
              <a:t>) / </a:t>
            </a:r>
            <a:r>
              <a:rPr lang="en-US" sz="3600" b="1" dirty="0" err="1" smtClean="0">
                <a:solidFill>
                  <a:schemeClr val="tx2">
                    <a:lumMod val="75000"/>
                  </a:schemeClr>
                </a:solidFill>
                <a:latin typeface="Arial" panose="020B0604020202020204" pitchFamily="34" charset="0"/>
                <a:cs typeface="Arial" panose="020B0604020202020204" pitchFamily="34" charset="0"/>
              </a:rPr>
              <a:t>DockerHub</a:t>
            </a:r>
            <a:endParaRPr lang="en-US" sz="3600" b="1" dirty="0">
              <a:solidFill>
                <a:schemeClr val="tx2">
                  <a:lumMod val="75000"/>
                </a:schemeClr>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Stores </a:t>
            </a:r>
            <a:r>
              <a:rPr lang="en-US" dirty="0" err="1" smtClean="0">
                <a:latin typeface="Times New Roman" panose="02020603050405020304" pitchFamily="18" charset="0"/>
                <a:cs typeface="Times New Roman" panose="02020603050405020304" pitchFamily="18" charset="0"/>
              </a:rPr>
              <a:t>Docker</a:t>
            </a:r>
            <a:r>
              <a:rPr lang="en-US" dirty="0" smtClean="0">
                <a:latin typeface="Times New Roman" panose="02020603050405020304" pitchFamily="18" charset="0"/>
                <a:cs typeface="Times New Roman" panose="02020603050405020304" pitchFamily="18" charset="0"/>
              </a:rPr>
              <a:t> images securely</a:t>
            </a:r>
          </a:p>
          <a:p>
            <a:r>
              <a:rPr lang="en-US" dirty="0" smtClean="0">
                <a:latin typeface="Times New Roman" panose="02020603050405020304" pitchFamily="18" charset="0"/>
                <a:cs typeface="Times New Roman" panose="02020603050405020304" pitchFamily="18" charset="0"/>
              </a:rPr>
              <a:t>Acts as the source of AKS deployments</a:t>
            </a:r>
            <a:endParaRPr lang="en-US"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2208" y="2764507"/>
            <a:ext cx="6599583" cy="3994100"/>
          </a:xfrm>
          <a:prstGeom prst="rect">
            <a:avLst/>
          </a:prstGeom>
        </p:spPr>
      </p:pic>
    </p:spTree>
    <p:extLst>
      <p:ext uri="{BB962C8B-B14F-4D97-AF65-F5344CB8AC3E}">
        <p14:creationId xmlns:p14="http://schemas.microsoft.com/office/powerpoint/2010/main" val="3754824711"/>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017" y="301556"/>
            <a:ext cx="8258783" cy="1116081"/>
          </a:xfrm>
        </p:spPr>
        <p:txBody>
          <a:bodyPr/>
          <a:lstStyle/>
          <a:p>
            <a:r>
              <a:rPr b="1" dirty="0">
                <a:solidFill>
                  <a:schemeClr val="tx2">
                    <a:lumMod val="75000"/>
                  </a:schemeClr>
                </a:solidFill>
                <a:latin typeface="Arial" panose="020B0604020202020204" pitchFamily="34" charset="0"/>
                <a:cs typeface="Arial" panose="020B0604020202020204" pitchFamily="34" charset="0"/>
              </a:rPr>
              <a:t>CD: </a:t>
            </a:r>
            <a:r>
              <a:rPr b="1" dirty="0" err="1">
                <a:solidFill>
                  <a:schemeClr val="tx2">
                    <a:lumMod val="75000"/>
                  </a:schemeClr>
                </a:solidFill>
                <a:latin typeface="Arial" panose="020B0604020202020204" pitchFamily="34" charset="0"/>
                <a:cs typeface="Arial" panose="020B0604020202020204" pitchFamily="34" charset="0"/>
              </a:rPr>
              <a:t>GitOps</a:t>
            </a:r>
            <a:r>
              <a:rPr b="1" dirty="0">
                <a:solidFill>
                  <a:schemeClr val="tx2">
                    <a:lumMod val="75000"/>
                  </a:schemeClr>
                </a:solidFill>
                <a:latin typeface="Arial" panose="020B0604020202020204" pitchFamily="34" charset="0"/>
                <a:cs typeface="Arial" panose="020B0604020202020204" pitchFamily="34" charset="0"/>
              </a:rPr>
              <a:t> with </a:t>
            </a:r>
            <a:r>
              <a:rPr b="1" dirty="0" err="1" smtClean="0">
                <a:solidFill>
                  <a:schemeClr val="tx2">
                    <a:lumMod val="75000"/>
                  </a:schemeClr>
                </a:solidFill>
                <a:latin typeface="Arial" panose="020B0604020202020204" pitchFamily="34" charset="0"/>
                <a:cs typeface="Arial" panose="020B0604020202020204" pitchFamily="34" charset="0"/>
              </a:rPr>
              <a:t>ArgoCD</a:t>
            </a:r>
            <a:endParaRPr b="1" dirty="0">
              <a:solidFill>
                <a:schemeClr val="tx2">
                  <a:lumMod val="75000"/>
                </a:schemeClr>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600200"/>
            <a:ext cx="8229600" cy="4525963"/>
          </a:xfrm>
        </p:spPr>
        <p:txBody>
          <a:bodyPr/>
          <a:lstStyle/>
          <a:p>
            <a:pPr marL="0" indent="0" algn="just">
              <a:buNone/>
            </a:pPr>
            <a:r>
              <a:rPr dirty="0" err="1" smtClean="0">
                <a:latin typeface="Times New Roman" panose="02020603050405020304" pitchFamily="18" charset="0"/>
                <a:cs typeface="Times New Roman" panose="02020603050405020304" pitchFamily="18" charset="0"/>
              </a:rPr>
              <a:t>Git</a:t>
            </a:r>
            <a:r>
              <a:rPr dirty="0" smtClean="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as single source of </a:t>
            </a:r>
            <a:r>
              <a:rPr dirty="0" smtClean="0">
                <a:latin typeface="Times New Roman" panose="02020603050405020304" pitchFamily="18" charset="0"/>
                <a:cs typeface="Times New Roman" panose="02020603050405020304" pitchFamily="18" charset="0"/>
              </a:rPr>
              <a:t>truth</a:t>
            </a:r>
            <a:r>
              <a:rPr lang="en-US" dirty="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It’s declarative, versioned &amp; immutable, pulled automatically and continuously reconciled</a:t>
            </a: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Watches </a:t>
            </a:r>
            <a:r>
              <a:rPr lang="en-US" dirty="0" err="1" smtClean="0">
                <a:latin typeface="Times New Roman" panose="02020603050405020304" pitchFamily="18" charset="0"/>
                <a:cs typeface="Times New Roman" panose="02020603050405020304" pitchFamily="18" charset="0"/>
              </a:rPr>
              <a:t>GitHub</a:t>
            </a:r>
            <a:r>
              <a:rPr lang="en-US" dirty="0" smtClean="0">
                <a:latin typeface="Times New Roman" panose="02020603050405020304" pitchFamily="18" charset="0"/>
                <a:cs typeface="Times New Roman" panose="02020603050405020304" pitchFamily="18" charset="0"/>
              </a:rPr>
              <a:t> Repository</a:t>
            </a:r>
            <a:endParaRPr dirty="0">
              <a:latin typeface="Times New Roman" panose="02020603050405020304" pitchFamily="18" charset="0"/>
              <a:cs typeface="Times New Roman" panose="02020603050405020304" pitchFamily="18" charset="0"/>
            </a:endParaRPr>
          </a:p>
          <a:p>
            <a:r>
              <a:rPr dirty="0" smtClean="0">
                <a:latin typeface="Times New Roman" panose="02020603050405020304" pitchFamily="18" charset="0"/>
                <a:cs typeface="Times New Roman" panose="02020603050405020304" pitchFamily="18" charset="0"/>
              </a:rPr>
              <a:t>Automated </a:t>
            </a:r>
            <a:r>
              <a:rPr dirty="0">
                <a:latin typeface="Times New Roman" panose="02020603050405020304" pitchFamily="18" charset="0"/>
                <a:cs typeface="Times New Roman" panose="02020603050405020304" pitchFamily="18" charset="0"/>
              </a:rPr>
              <a:t>sync to AKS</a:t>
            </a:r>
          </a:p>
          <a:p>
            <a:r>
              <a:rPr dirty="0" smtClean="0">
                <a:latin typeface="Times New Roman" panose="02020603050405020304" pitchFamily="18" charset="0"/>
                <a:cs typeface="Times New Roman" panose="02020603050405020304" pitchFamily="18" charset="0"/>
              </a:rPr>
              <a:t>Self-healing </a:t>
            </a:r>
            <a:r>
              <a:rPr dirty="0">
                <a:latin typeface="Times New Roman" panose="02020603050405020304" pitchFamily="18" charset="0"/>
                <a:cs typeface="Times New Roman" panose="02020603050405020304" pitchFamily="18" charset="0"/>
              </a:rPr>
              <a:t>deployments</a:t>
            </a:r>
          </a:p>
        </p:txBody>
      </p:sp>
    </p:spTree>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382" y="54350"/>
            <a:ext cx="8200417" cy="1174447"/>
          </a:xfrm>
        </p:spPr>
        <p:txBody>
          <a:bodyPr/>
          <a:lstStyle/>
          <a:p>
            <a:r>
              <a:rPr b="1" dirty="0" err="1" smtClean="0">
                <a:solidFill>
                  <a:schemeClr val="tx2">
                    <a:lumMod val="75000"/>
                  </a:schemeClr>
                </a:solidFill>
                <a:latin typeface="Arial" panose="020B0604020202020204" pitchFamily="34" charset="0"/>
                <a:cs typeface="Arial" panose="020B0604020202020204" pitchFamily="34" charset="0"/>
              </a:rPr>
              <a:t>A</a:t>
            </a:r>
            <a:r>
              <a:rPr lang="en-US" b="1" dirty="0" err="1" smtClean="0">
                <a:solidFill>
                  <a:schemeClr val="tx2">
                    <a:lumMod val="75000"/>
                  </a:schemeClr>
                </a:solidFill>
                <a:latin typeface="Arial" panose="020B0604020202020204" pitchFamily="34" charset="0"/>
                <a:cs typeface="Arial" panose="020B0604020202020204" pitchFamily="34" charset="0"/>
              </a:rPr>
              <a:t>rgoCD</a:t>
            </a:r>
            <a:r>
              <a:rPr lang="en-US" b="1" dirty="0" smtClean="0">
                <a:solidFill>
                  <a:schemeClr val="tx2">
                    <a:lumMod val="75000"/>
                  </a:schemeClr>
                </a:solidFill>
                <a:latin typeface="Arial" panose="020B0604020202020204" pitchFamily="34" charset="0"/>
                <a:cs typeface="Arial" panose="020B0604020202020204" pitchFamily="34" charset="0"/>
              </a:rPr>
              <a:t> Workflow</a:t>
            </a:r>
            <a:endParaRPr b="1" dirty="0">
              <a:solidFill>
                <a:schemeClr val="tx2">
                  <a:lumMod val="75000"/>
                </a:schemeClr>
              </a:solidFill>
              <a:latin typeface="Arial" panose="020B0604020202020204" pitchFamily="34" charset="0"/>
              <a:cs typeface="Arial" panose="020B0604020202020204" pitchFamily="34" charset="0"/>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86382" y="1228797"/>
            <a:ext cx="8200417" cy="5257800"/>
          </a:xfrm>
        </p:spPr>
      </p:pic>
    </p:spTree>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lumMod val="75000"/>
                  </a:schemeClr>
                </a:solidFill>
                <a:latin typeface="Arial" panose="020B0604020202020204" pitchFamily="34" charset="0"/>
                <a:cs typeface="Arial" panose="020B0604020202020204" pitchFamily="34" charset="0"/>
              </a:rPr>
              <a:t>Observability</a:t>
            </a:r>
          </a:p>
        </p:txBody>
      </p:sp>
      <p:sp>
        <p:nvSpPr>
          <p:cNvPr id="3" name="Content Placeholder 2"/>
          <p:cNvSpPr>
            <a:spLocks noGrp="1"/>
          </p:cNvSpPr>
          <p:nvPr>
            <p:ph idx="1"/>
          </p:nvPr>
        </p:nvSpPr>
        <p:spPr/>
        <p:txBody>
          <a:bodyPr>
            <a:normAutofit lnSpcReduction="10000"/>
          </a:bodyPr>
          <a:lstStyle/>
          <a:p>
            <a:pPr marL="0" indent="0">
              <a:buNone/>
            </a:pPr>
            <a:r>
              <a:rPr b="1" dirty="0" smtClean="0">
                <a:latin typeface="Times New Roman" panose="02020603050405020304" pitchFamily="18" charset="0"/>
                <a:cs typeface="Times New Roman" panose="02020603050405020304" pitchFamily="18" charset="0"/>
              </a:rPr>
              <a:t>Prometheus</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Scrapes application &amp; cluster</a:t>
            </a:r>
            <a:r>
              <a:rPr dirty="0" smtClean="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metrics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Collects CPU, Memory metrics</a:t>
            </a:r>
          </a:p>
          <a:p>
            <a:pPr marL="0" indent="0">
              <a:buNone/>
            </a:pPr>
            <a:r>
              <a:rPr b="1" dirty="0" err="1" smtClean="0">
                <a:latin typeface="Times New Roman" panose="02020603050405020304" pitchFamily="18" charset="0"/>
                <a:cs typeface="Times New Roman" panose="02020603050405020304" pitchFamily="18" charset="0"/>
              </a:rPr>
              <a:t>Grafana</a:t>
            </a:r>
            <a:r>
              <a:rPr lang="en-US" dirty="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V</a:t>
            </a:r>
            <a:r>
              <a:rPr dirty="0" smtClean="0">
                <a:latin typeface="Times New Roman" panose="02020603050405020304" pitchFamily="18" charset="0"/>
                <a:cs typeface="Times New Roman" panose="02020603050405020304" pitchFamily="18" charset="0"/>
              </a:rPr>
              <a:t>isualiz</a:t>
            </a:r>
            <a:r>
              <a:rPr lang="en-US" dirty="0" smtClean="0">
                <a:latin typeface="Times New Roman" panose="02020603050405020304" pitchFamily="18" charset="0"/>
                <a:cs typeface="Times New Roman" panose="02020603050405020304" pitchFamily="18" charset="0"/>
              </a:rPr>
              <a:t>e metrics</a:t>
            </a:r>
          </a:p>
          <a:p>
            <a:r>
              <a:rPr lang="en-US" dirty="0" smtClean="0">
                <a:latin typeface="Times New Roman" panose="02020603050405020304" pitchFamily="18" charset="0"/>
                <a:cs typeface="Times New Roman" panose="02020603050405020304" pitchFamily="18" charset="0"/>
              </a:rPr>
              <a:t>Dashboard for</a:t>
            </a:r>
          </a:p>
          <a:p>
            <a:pPr lvl="1"/>
            <a:r>
              <a:rPr lang="en-US" dirty="0" smtClean="0">
                <a:latin typeface="Times New Roman" panose="02020603050405020304" pitchFamily="18" charset="0"/>
                <a:cs typeface="Times New Roman" panose="02020603050405020304" pitchFamily="18" charset="0"/>
              </a:rPr>
              <a:t>Application performance</a:t>
            </a:r>
          </a:p>
          <a:p>
            <a:pPr lvl="1"/>
            <a:r>
              <a:rPr lang="en-US" dirty="0" smtClean="0">
                <a:latin typeface="Times New Roman" panose="02020603050405020304" pitchFamily="18" charset="0"/>
                <a:cs typeface="Times New Roman" panose="02020603050405020304" pitchFamily="18" charset="0"/>
              </a:rPr>
              <a:t>Pod &amp; node resource usage</a:t>
            </a: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76982"/>
            <a:ext cx="9144000" cy="4404166"/>
          </a:xfrm>
          <a:prstGeom prst="rect">
            <a:avLst/>
          </a:prstGeom>
        </p:spPr>
      </p:pic>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57874"/>
            <a:ext cx="9144000" cy="4085863"/>
          </a:xfrm>
        </p:spPr>
      </p:pic>
    </p:spTree>
    <p:extLst>
      <p:ext uri="{BB962C8B-B14F-4D97-AF65-F5344CB8AC3E}">
        <p14:creationId xmlns:p14="http://schemas.microsoft.com/office/powerpoint/2010/main" val="2299268472"/>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76932"/>
            <a:ext cx="9144000" cy="4181068"/>
          </a:xfrm>
          <a:prstGeom prst="rect">
            <a:avLst/>
          </a:prstGeom>
        </p:spPr>
      </p:pic>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81022"/>
            <a:ext cx="9144000" cy="4027990"/>
          </a:xfrm>
        </p:spPr>
      </p:pic>
    </p:spTree>
    <p:extLst>
      <p:ext uri="{BB962C8B-B14F-4D97-AF65-F5344CB8AC3E}">
        <p14:creationId xmlns:p14="http://schemas.microsoft.com/office/powerpoint/2010/main" val="4119224128"/>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928" y="223736"/>
            <a:ext cx="8219872" cy="1193902"/>
          </a:xfrm>
        </p:spPr>
        <p:txBody>
          <a:bodyPr/>
          <a:lstStyle/>
          <a:p>
            <a:r>
              <a:rPr b="1" dirty="0">
                <a:solidFill>
                  <a:schemeClr val="tx2">
                    <a:lumMod val="75000"/>
                  </a:schemeClr>
                </a:solidFill>
                <a:latin typeface="Arial" panose="020B0604020202020204" pitchFamily="34" charset="0"/>
                <a:cs typeface="Arial" panose="020B0604020202020204" pitchFamily="34" charset="0"/>
              </a:rPr>
              <a:t>Conclusion</a:t>
            </a:r>
          </a:p>
        </p:txBody>
      </p:sp>
      <p:sp>
        <p:nvSpPr>
          <p:cNvPr id="3" name="Content Placeholder 2"/>
          <p:cNvSpPr>
            <a:spLocks noGrp="1"/>
          </p:cNvSpPr>
          <p:nvPr>
            <p:ph idx="1"/>
          </p:nvPr>
        </p:nvSpPr>
        <p:spPr>
          <a:xfrm>
            <a:off x="457200" y="1600200"/>
            <a:ext cx="8229600" cy="4525963"/>
          </a:xfrm>
        </p:spPr>
        <p:txBody>
          <a:bodyPr/>
          <a:lstStyle/>
          <a:p>
            <a:pPr marL="0" indent="0">
              <a:buNone/>
            </a:pPr>
            <a:r>
              <a:rPr lang="en-US" dirty="0" smtClean="0">
                <a:latin typeface="Times New Roman" panose="02020603050405020304" pitchFamily="18" charset="0"/>
                <a:cs typeface="Times New Roman" panose="02020603050405020304" pitchFamily="18" charset="0"/>
              </a:rPr>
              <a:t>Project Outcome:</a:t>
            </a:r>
          </a:p>
          <a:p>
            <a:r>
              <a:rPr dirty="0" smtClean="0">
                <a:latin typeface="Times New Roman" panose="02020603050405020304" pitchFamily="18" charset="0"/>
                <a:cs typeface="Times New Roman" panose="02020603050405020304" pitchFamily="18" charset="0"/>
              </a:rPr>
              <a:t>Fully </a:t>
            </a:r>
            <a:r>
              <a:rPr dirty="0">
                <a:latin typeface="Times New Roman" panose="02020603050405020304" pitchFamily="18" charset="0"/>
                <a:cs typeface="Times New Roman" panose="02020603050405020304" pitchFamily="18" charset="0"/>
              </a:rPr>
              <a:t>automated </a:t>
            </a:r>
            <a:r>
              <a:rPr dirty="0" err="1">
                <a:latin typeface="Times New Roman" panose="02020603050405020304" pitchFamily="18" charset="0"/>
                <a:cs typeface="Times New Roman" panose="02020603050405020304" pitchFamily="18" charset="0"/>
              </a:rPr>
              <a:t>DevOps</a:t>
            </a:r>
            <a:r>
              <a:rPr dirty="0">
                <a:latin typeface="Times New Roman" panose="02020603050405020304" pitchFamily="18" charset="0"/>
                <a:cs typeface="Times New Roman" panose="02020603050405020304" pitchFamily="18" charset="0"/>
              </a:rPr>
              <a:t> pipeline</a:t>
            </a:r>
          </a:p>
          <a:p>
            <a:r>
              <a:rPr dirty="0" smtClean="0">
                <a:latin typeface="Times New Roman" panose="02020603050405020304" pitchFamily="18" charset="0"/>
                <a:cs typeface="Times New Roman" panose="02020603050405020304" pitchFamily="18" charset="0"/>
              </a:rPr>
              <a:t>Production-ready </a:t>
            </a:r>
            <a:r>
              <a:rPr dirty="0">
                <a:latin typeface="Times New Roman" panose="02020603050405020304" pitchFamily="18" charset="0"/>
                <a:cs typeface="Times New Roman" panose="02020603050405020304" pitchFamily="18" charset="0"/>
              </a:rPr>
              <a:t>deployment</a:t>
            </a:r>
          </a:p>
          <a:p>
            <a:r>
              <a:rPr dirty="0" smtClean="0">
                <a:latin typeface="Times New Roman" panose="02020603050405020304" pitchFamily="18" charset="0"/>
                <a:cs typeface="Times New Roman" panose="02020603050405020304" pitchFamily="18" charset="0"/>
              </a:rPr>
              <a:t>Observable </a:t>
            </a:r>
            <a:r>
              <a:rPr dirty="0">
                <a:latin typeface="Times New Roman" panose="02020603050405020304" pitchFamily="18" charset="0"/>
                <a:cs typeface="Times New Roman" panose="02020603050405020304" pitchFamily="18" charset="0"/>
              </a:rPr>
              <a:t>and scalable </a:t>
            </a:r>
            <a:r>
              <a:rPr dirty="0" smtClean="0">
                <a:latin typeface="Times New Roman" panose="02020603050405020304" pitchFamily="18" charset="0"/>
                <a:cs typeface="Times New Roman" panose="02020603050405020304" pitchFamily="18" charset="0"/>
              </a:rPr>
              <a:t>system</a:t>
            </a:r>
            <a:endParaRPr lang="en-US" dirty="0" smtClean="0">
              <a:latin typeface="Times New Roman" panose="02020603050405020304" pitchFamily="18" charset="0"/>
              <a:cs typeface="Times New Roman" panose="02020603050405020304" pitchFamily="18" charset="0"/>
            </a:endParaRPr>
          </a:p>
          <a:p>
            <a:pPr marL="0" indent="0">
              <a:buNone/>
            </a:pPr>
            <a:endParaRPr lang="en-US" sz="2400" i="1" dirty="0" smtClean="0">
              <a:latin typeface="Times New Roman" panose="02020603050405020304" pitchFamily="18" charset="0"/>
              <a:cs typeface="Times New Roman" panose="02020603050405020304" pitchFamily="18" charset="0"/>
            </a:endParaRPr>
          </a:p>
          <a:p>
            <a:pPr marL="0" indent="0">
              <a:buNone/>
            </a:pPr>
            <a:r>
              <a:rPr lang="en-US" sz="2400" i="1" dirty="0" smtClean="0">
                <a:latin typeface="Times New Roman" panose="02020603050405020304" pitchFamily="18" charset="0"/>
                <a:cs typeface="Times New Roman" panose="02020603050405020304" pitchFamily="18" charset="0"/>
              </a:rPr>
              <a:t>Key takeaway:</a:t>
            </a:r>
          </a:p>
          <a:p>
            <a:pPr marL="0" indent="0" algn="just">
              <a:buNone/>
            </a:pPr>
            <a:r>
              <a:rPr lang="en-US" sz="2800" dirty="0" smtClean="0">
                <a:latin typeface="Times New Roman" panose="02020603050405020304" pitchFamily="18" charset="0"/>
                <a:cs typeface="Times New Roman" panose="02020603050405020304" pitchFamily="18" charset="0"/>
              </a:rPr>
              <a:t>“Modern </a:t>
            </a:r>
            <a:r>
              <a:rPr lang="en-US" sz="2800" dirty="0" err="1" smtClean="0">
                <a:latin typeface="Times New Roman" panose="02020603050405020304" pitchFamily="18" charset="0"/>
                <a:cs typeface="Times New Roman" panose="02020603050405020304" pitchFamily="18" charset="0"/>
              </a:rPr>
              <a:t>DevOps</a:t>
            </a:r>
            <a:r>
              <a:rPr lang="en-US" sz="2800" dirty="0" smtClean="0">
                <a:latin typeface="Times New Roman" panose="02020603050405020304" pitchFamily="18" charset="0"/>
                <a:cs typeface="Times New Roman" panose="02020603050405020304" pitchFamily="18" charset="0"/>
              </a:rPr>
              <a:t> focuses on automation, reliability, and visibility”</a:t>
            </a:r>
          </a:p>
          <a:p>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53630"/>
            <a:ext cx="8229600" cy="2050276"/>
          </a:xfrm>
        </p:spPr>
        <p:txBody>
          <a:bodyPr>
            <a:noAutofit/>
          </a:bodyPr>
          <a:lstStyle/>
          <a:p>
            <a:r>
              <a:rPr lang="en-US" sz="8800" b="1" dirty="0" smtClean="0">
                <a:solidFill>
                  <a:srgbClr val="FF0000"/>
                </a:solidFill>
                <a:latin typeface="Bradley Hand ITC" panose="03070402050302030203" pitchFamily="66" charset="0"/>
              </a:rPr>
              <a:t>THANKS</a:t>
            </a:r>
            <a:r>
              <a:rPr lang="en-US" sz="8800" b="1" dirty="0" smtClean="0">
                <a:latin typeface="Bradley Hand ITC" panose="03070402050302030203" pitchFamily="66" charset="0"/>
              </a:rPr>
              <a:t> </a:t>
            </a:r>
            <a:r>
              <a:rPr lang="en-US" sz="8800" b="1" dirty="0" smtClean="0">
                <a:solidFill>
                  <a:schemeClr val="accent2">
                    <a:lumMod val="75000"/>
                  </a:schemeClr>
                </a:solidFill>
                <a:latin typeface="Bradley Hand ITC" panose="03070402050302030203" pitchFamily="66" charset="0"/>
              </a:rPr>
              <a:t>FOR</a:t>
            </a:r>
            <a:r>
              <a:rPr lang="en-US" sz="8800" b="1" dirty="0" smtClean="0">
                <a:latin typeface="Bradley Hand ITC" panose="03070402050302030203" pitchFamily="66" charset="0"/>
              </a:rPr>
              <a:t> </a:t>
            </a:r>
            <a:r>
              <a:rPr lang="en-US" sz="8800" b="1" dirty="0" smtClean="0">
                <a:solidFill>
                  <a:srgbClr val="92D050"/>
                </a:solidFill>
                <a:latin typeface="Bradley Hand ITC" panose="03070402050302030203" pitchFamily="66" charset="0"/>
              </a:rPr>
              <a:t>LISTENING</a:t>
            </a:r>
            <a:endParaRPr lang="en-US" sz="8800" b="1" dirty="0">
              <a:solidFill>
                <a:srgbClr val="92D050"/>
              </a:solidFill>
              <a:latin typeface="Bradley Hand ITC" panose="03070402050302030203" pitchFamily="66" charset="0"/>
            </a:endParaRPr>
          </a:p>
        </p:txBody>
      </p:sp>
    </p:spTree>
    <p:extLst>
      <p:ext uri="{BB962C8B-B14F-4D97-AF65-F5344CB8AC3E}">
        <p14:creationId xmlns:p14="http://schemas.microsoft.com/office/powerpoint/2010/main" val="1017704820"/>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5005</TotalTime>
  <Words>776</Words>
  <Application>Microsoft Office PowerPoint</Application>
  <PresentationFormat>On-screen Show (4:3)</PresentationFormat>
  <Paragraphs>131</Paragraphs>
  <Slides>16</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16</vt:i4>
      </vt:variant>
    </vt:vector>
  </HeadingPairs>
  <TitlesOfParts>
    <vt:vector size="25" baseType="lpstr">
      <vt:lpstr>Arial</vt:lpstr>
      <vt:lpstr>Bradley Hand ITC</vt:lpstr>
      <vt:lpstr>Calibri</vt:lpstr>
      <vt:lpstr>Rockwell</vt:lpstr>
      <vt:lpstr>Rockwell Condensed</vt:lpstr>
      <vt:lpstr>Times New Roman</vt:lpstr>
      <vt:lpstr>Wingdings</vt:lpstr>
      <vt:lpstr>Office Theme</vt:lpstr>
      <vt:lpstr>Wood Type</vt:lpstr>
      <vt:lpstr>End-to-End DevOps Pipeline on Azure using GitOps</vt:lpstr>
      <vt:lpstr>Project Objective</vt:lpstr>
      <vt:lpstr>Project Architecture</vt:lpstr>
      <vt:lpstr>ARCHITECTURE DIAGRAM (END-TO-END)</vt:lpstr>
      <vt:lpstr>Application Layer (.NET API)</vt:lpstr>
      <vt:lpstr>PowerPoint Presentation</vt:lpstr>
      <vt:lpstr>Infrastructure as Code (Terraform)</vt:lpstr>
      <vt:lpstr>CI: GitHub Actions</vt:lpstr>
      <vt:lpstr>Azure Container Registry (ACR) / DockerHub</vt:lpstr>
      <vt:lpstr>CD: GitOps with ArgoCD</vt:lpstr>
      <vt:lpstr>ArgoCD Workflow</vt:lpstr>
      <vt:lpstr>Observability</vt:lpstr>
      <vt:lpstr>PowerPoint Presentation</vt:lpstr>
      <vt:lpstr>PowerPoint Presentation</vt:lpstr>
      <vt:lpstr>Conclusion</vt:lpstr>
      <vt:lpstr>THANKS FOR LISTENING</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End-to-End DevOps Pipeline on Azure using GitOps</dc:title>
  <dc:subject/>
  <dc:creator/>
  <cp:keywords/>
  <dc:description>generated using python-pptx</dc:description>
  <cp:lastModifiedBy>HP</cp:lastModifiedBy>
  <cp:revision>89</cp:revision>
  <dcterms:created xsi:type="dcterms:W3CDTF">2013-01-27T09:14:16Z</dcterms:created>
  <dcterms:modified xsi:type="dcterms:W3CDTF">2026-01-31T11:57:08Z</dcterms:modified>
  <cp:category/>
</cp:coreProperties>
</file>